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24"/>
        </a:solidFill>
      </p:bgPr>
    </p:bg>
    <p:spTree>
      <p:nvGrpSpPr>
        <p:cNvPr id="1" name=""/>
        <p:cNvGrpSpPr/>
        <p:nvPr/>
      </p:nvGrpSpPr>
      <p:grpSpPr>
        <a:xfrm>
          <a:off x="0" y="0"/>
          <a:ext cx="0" cy="0"/>
          <a:chOff x="0" y="0"/>
          <a:chExt cx="0" cy="0"/>
        </a:xfrm>
      </p:grpSpPr>
      <p:sp>
        <p:nvSpPr>
          <p:cNvPr id="2" name="Shape 0"/>
          <p:cNvSpPr/>
          <p:nvPr/>
        </p:nvSpPr>
        <p:spPr>
          <a:xfrm>
            <a:off x="8138160" y="-1737360"/>
            <a:ext cx="6035040" cy="6035040"/>
          </a:xfrm>
          <a:prstGeom prst="ellipse">
            <a:avLst/>
          </a:prstGeom>
          <a:solidFill>
            <a:srgbClr val="D9966B">
              <a:alpha val="12000"/>
            </a:srgbClr>
          </a:solidFill>
          <a:ln w="9525">
            <a:solidFill>
              <a:srgbClr val="D9966B">
                <a:alpha val="35000"/>
              </a:srgbClr>
            </a:solidFill>
            <a:prstDash val="solid"/>
          </a:ln>
        </p:spPr>
      </p:sp>
      <p:sp>
        <p:nvSpPr>
          <p:cNvPr id="3" name="Shape 1"/>
          <p:cNvSpPr/>
          <p:nvPr/>
        </p:nvSpPr>
        <p:spPr>
          <a:xfrm>
            <a:off x="9692640" y="3566160"/>
            <a:ext cx="3291840" cy="3291840"/>
          </a:xfrm>
          <a:prstGeom prst="ellipse">
            <a:avLst/>
          </a:prstGeom>
          <a:solidFill>
            <a:srgbClr val="D9966B">
              <a:alpha val="7000"/>
            </a:srgbClr>
          </a:solidFill>
          <a:ln w="9525">
            <a:solidFill>
              <a:srgbClr val="D9966B">
                <a:alpha val="25000"/>
              </a:srgbClr>
            </a:solidFill>
            <a:prstDash val="solid"/>
          </a:ln>
        </p:spPr>
      </p:sp>
      <p:sp>
        <p:nvSpPr>
          <p:cNvPr id="4" name="Text 2"/>
          <p:cNvSpPr txBox="1"/>
          <p:nvPr/>
        </p:nvSpPr>
        <p:spPr>
          <a:xfrm>
            <a:off x="685800" y="1828800"/>
            <a:ext cx="7315200" cy="320040"/>
          </a:xfrm>
          <a:prstGeom prst="rect">
            <a:avLst/>
          </a:prstGeom>
          <a:noFill/>
          <a:ln/>
        </p:spPr>
        <p:txBody>
          <a:bodyPr wrap="square" lIns="0" tIns="0" rIns="0" bIns="0" rtlCol="0" anchor="t"/>
          <a:lstStyle/>
          <a:p>
            <a:pPr indent="0" marL="0">
              <a:buNone/>
            </a:pPr>
            <a:r>
              <a:rPr lang="en-US" sz="1400" b="1" spc="300" kern="0" dirty="0">
                <a:solidFill>
                  <a:srgbClr val="D9966B"/>
                </a:solidFill>
                <a:latin typeface="Calibri" pitchFamily="34" charset="0"/>
                <a:ea typeface="Calibri" pitchFamily="34" charset="-122"/>
                <a:cs typeface="Calibri" pitchFamily="34" charset="-120"/>
              </a:rPr>
              <a:t>MONETISATION AUDIT</a:t>
            </a:r>
            <a:endParaRPr lang="en-US" sz="1400" dirty="0"/>
          </a:p>
        </p:txBody>
      </p:sp>
      <p:sp>
        <p:nvSpPr>
          <p:cNvPr id="5" name="Text 3"/>
          <p:cNvSpPr txBox="1"/>
          <p:nvPr/>
        </p:nvSpPr>
        <p:spPr>
          <a:xfrm>
            <a:off x="685800" y="2286000"/>
            <a:ext cx="8229600" cy="118872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Milena (Milli)</a:t>
            </a:r>
            <a:endParaRPr lang="en-US" sz="6000" dirty="0"/>
          </a:p>
        </p:txBody>
      </p:sp>
      <p:sp>
        <p:nvSpPr>
          <p:cNvPr id="6" name="Text 4"/>
          <p:cNvSpPr txBox="1"/>
          <p:nvPr/>
        </p:nvSpPr>
        <p:spPr>
          <a:xfrm>
            <a:off x="685800" y="3520440"/>
            <a:ext cx="7315200" cy="457200"/>
          </a:xfrm>
          <a:prstGeom prst="rect">
            <a:avLst/>
          </a:prstGeom>
          <a:noFill/>
          <a:ln/>
        </p:spPr>
        <p:txBody>
          <a:bodyPr wrap="square" lIns="0" tIns="0" rIns="0" bIns="0" rtlCol="0" anchor="t"/>
          <a:lstStyle/>
          <a:p>
            <a:pPr indent="0" marL="0">
              <a:buNone/>
            </a:pPr>
            <a:r>
              <a:rPr lang="en-US" sz="2400" dirty="0">
                <a:solidFill>
                  <a:srgbClr val="A9B5AD"/>
                </a:solidFill>
                <a:latin typeface="Calibri" pitchFamily="34" charset="0"/>
                <a:ea typeface="Calibri" pitchFamily="34" charset="-122"/>
                <a:cs typeface="Calibri" pitchFamily="34" charset="-120"/>
              </a:rPr>
              <a:t>@lena_abuela</a:t>
            </a:r>
            <a:endParaRPr lang="en-US" sz="2400" dirty="0"/>
          </a:p>
        </p:txBody>
      </p:sp>
      <p:sp>
        <p:nvSpPr>
          <p:cNvPr id="7" name="Text 5"/>
          <p:cNvSpPr txBox="1"/>
          <p:nvPr/>
        </p:nvSpPr>
        <p:spPr>
          <a:xfrm>
            <a:off x="685800" y="5120640"/>
            <a:ext cx="8229600" cy="320040"/>
          </a:xfrm>
          <a:prstGeom prst="rect">
            <a:avLst/>
          </a:prstGeom>
          <a:noFill/>
          <a:ln/>
        </p:spPr>
        <p:txBody>
          <a:bodyPr wrap="square" lIns="0" tIns="0" rIns="0" bIns="0" rtlCol="0" anchor="t"/>
          <a:lstStyle/>
          <a:p>
            <a:pPr indent="0" marL="0">
              <a:buNone/>
            </a:pPr>
            <a:r>
              <a:rPr lang="en-US" sz="1400" dirty="0">
                <a:solidFill>
                  <a:srgbClr val="A9B5AD"/>
                </a:solidFill>
                <a:latin typeface="Calibri" pitchFamily="34" charset="0"/>
                <a:ea typeface="Calibri" pitchFamily="34" charset="-122"/>
                <a:cs typeface="Calibri" pitchFamily="34" charset="-120"/>
              </a:rPr>
              <a:t>Functional Mobility, Flexibility &amp; Split Training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SECTION 01</a:t>
            </a:r>
            <a:endParaRPr lang="en-US" sz="1200" dirty="0"/>
          </a:p>
        </p:txBody>
      </p:sp>
      <p:sp>
        <p:nvSpPr>
          <p:cNvPr id="3" name="Text 1"/>
          <p:cNvSpPr txBox="1"/>
          <p:nvPr/>
        </p:nvSpPr>
        <p:spPr>
          <a:xfrm>
            <a:off x="685800" y="749808"/>
            <a:ext cx="10820095" cy="731520"/>
          </a:xfrm>
          <a:prstGeom prst="rect">
            <a:avLst/>
          </a:prstGeom>
          <a:noFill/>
          <a:ln/>
        </p:spPr>
        <p:txBody>
          <a:bodyPr wrap="square" lIns="0" tIns="0" rIns="0" bIns="0" rtlCol="0" anchor="t"/>
          <a:lstStyle/>
          <a:p>
            <a:pPr indent="0" marL="0">
              <a:buNone/>
            </a:pPr>
            <a:r>
              <a:rPr lang="en-US" sz="3200" b="1" dirty="0">
                <a:solidFill>
                  <a:srgbClr val="1E2A24"/>
                </a:solidFill>
                <a:latin typeface="Cambria" pitchFamily="34" charset="0"/>
                <a:ea typeface="Cambria" pitchFamily="34" charset="-122"/>
                <a:cs typeface="Cambria" pitchFamily="34" charset="-120"/>
              </a:rPr>
              <a:t>Creator Overview</a:t>
            </a:r>
            <a:endParaRPr lang="en-US" sz="3200" dirty="0"/>
          </a:p>
        </p:txBody>
      </p:sp>
      <p:sp>
        <p:nvSpPr>
          <p:cNvPr id="4" name="Shape 2"/>
          <p:cNvSpPr/>
          <p:nvPr/>
        </p:nvSpPr>
        <p:spPr>
          <a:xfrm>
            <a:off x="685800" y="1828800"/>
            <a:ext cx="4206240" cy="3657600"/>
          </a:xfrm>
          <a:prstGeom prst="roundRect">
            <a:avLst>
              <a:gd name="adj" fmla="val 2000"/>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5" name="Text 3"/>
          <p:cNvSpPr txBox="1"/>
          <p:nvPr/>
        </p:nvSpPr>
        <p:spPr>
          <a:xfrm>
            <a:off x="1097280" y="2286000"/>
            <a:ext cx="3383280"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IDENTIFIED NICHE</a:t>
            </a:r>
            <a:endParaRPr lang="en-US" sz="1200" dirty="0"/>
          </a:p>
        </p:txBody>
      </p:sp>
      <p:sp>
        <p:nvSpPr>
          <p:cNvPr id="6" name="Text 4"/>
          <p:cNvSpPr txBox="1"/>
          <p:nvPr/>
        </p:nvSpPr>
        <p:spPr>
          <a:xfrm>
            <a:off x="1097280" y="2697480"/>
            <a:ext cx="3383280" cy="2194560"/>
          </a:xfrm>
          <a:prstGeom prst="rect">
            <a:avLst/>
          </a:prstGeom>
          <a:noFill/>
          <a:ln/>
        </p:spPr>
        <p:txBody>
          <a:bodyPr wrap="square" lIns="0" tIns="0" rIns="0" bIns="0" rtlCol="0" anchor="t"/>
          <a:lstStyle/>
          <a:p>
            <a:pPr indent="0" marL="0">
              <a:buNone/>
            </a:pPr>
            <a:r>
              <a:rPr lang="en-US" sz="2800" b="1" dirty="0">
                <a:solidFill>
                  <a:srgbClr val="1E2A24"/>
                </a:solidFill>
                <a:latin typeface="Cambria" pitchFamily="34" charset="0"/>
                <a:ea typeface="Cambria" pitchFamily="34" charset="-122"/>
                <a:cs typeface="Cambria" pitchFamily="34" charset="-120"/>
              </a:rPr>
              <a:t>Functional Mobility, Flexibility &amp; Split Training</a:t>
            </a:r>
            <a:endParaRPr lang="en-US" sz="2800" dirty="0"/>
          </a:p>
        </p:txBody>
      </p:sp>
      <p:sp>
        <p:nvSpPr>
          <p:cNvPr id="7" name="Shape 5"/>
          <p:cNvSpPr/>
          <p:nvPr/>
        </p:nvSpPr>
        <p:spPr>
          <a:xfrm>
            <a:off x="5212080" y="1828800"/>
            <a:ext cx="6293815" cy="3657600"/>
          </a:xfrm>
          <a:prstGeom prst="roundRect">
            <a:avLst>
              <a:gd name="adj" fmla="val 2000"/>
            </a:avLst>
          </a:prstGeom>
          <a:solidFill>
            <a:srgbClr val="2A3830"/>
          </a:solidFill>
          <a:ln w="6350">
            <a:solidFill>
              <a:srgbClr val="2A3830"/>
            </a:solidFill>
            <a:prstDash val="solid"/>
          </a:ln>
          <a:effectLst>
            <a:outerShdw sx="100000" sy="100000" kx="0" ky="0" algn="bl" rotWithShape="0" blurRad="127000" dist="25400" dir="5400000">
              <a:srgbClr val="000000">
                <a:alpha val="8000"/>
              </a:srgbClr>
            </a:outerShdw>
          </a:effectLst>
        </p:spPr>
      </p:sp>
      <p:sp>
        <p:nvSpPr>
          <p:cNvPr id="8" name="Text 6"/>
          <p:cNvSpPr txBox="1"/>
          <p:nvPr/>
        </p:nvSpPr>
        <p:spPr>
          <a:xfrm>
            <a:off x="5669280" y="2286000"/>
            <a:ext cx="5379415" cy="274320"/>
          </a:xfrm>
          <a:prstGeom prst="rect">
            <a:avLst/>
          </a:prstGeom>
          <a:noFill/>
          <a:ln/>
        </p:spPr>
        <p:txBody>
          <a:bodyPr wrap="square" lIns="0" tIns="0" rIns="0" bIns="0" rtlCol="0" anchor="t"/>
          <a:lstStyle/>
          <a:p>
            <a:pPr indent="0" marL="0">
              <a:buNone/>
            </a:pPr>
            <a:r>
              <a:rPr lang="en-US" sz="1200" b="1" spc="200" kern="0" dirty="0">
                <a:solidFill>
                  <a:srgbClr val="D9966B"/>
                </a:solidFill>
                <a:latin typeface="Calibri" pitchFamily="34" charset="0"/>
                <a:ea typeface="Calibri" pitchFamily="34" charset="-122"/>
                <a:cs typeface="Calibri" pitchFamily="34" charset="-120"/>
              </a:rPr>
              <a:t>HIDDEN TRANSFORMATION</a:t>
            </a:r>
            <a:endParaRPr lang="en-US" sz="1200" dirty="0"/>
          </a:p>
        </p:txBody>
      </p:sp>
      <p:sp>
        <p:nvSpPr>
          <p:cNvPr id="9" name="Text 7"/>
          <p:cNvSpPr txBox="1"/>
          <p:nvPr/>
        </p:nvSpPr>
        <p:spPr>
          <a:xfrm>
            <a:off x="5669280" y="2697480"/>
            <a:ext cx="5379415" cy="2926080"/>
          </a:xfrm>
          <a:prstGeom prst="rect">
            <a:avLst/>
          </a:prstGeom>
          <a:noFill/>
          <a:ln/>
        </p:spPr>
        <p:txBody>
          <a:bodyPr wrap="square" lIns="0" tIns="0" rIns="0" bIns="0" rtlCol="0" anchor="t"/>
          <a:lstStyle/>
          <a:p>
            <a:pPr indent="0" marL="0">
              <a:lnSpc>
                <a:spcPct val="115000"/>
              </a:lnSpc>
              <a:buNone/>
            </a:pPr>
            <a:r>
              <a:rPr lang="en-US" sz="2200" dirty="0">
                <a:solidFill>
                  <a:srgbClr val="FFFFFF"/>
                </a:solidFill>
                <a:latin typeface="Cambria" pitchFamily="34" charset="0"/>
                <a:ea typeface="Cambria" pitchFamily="34" charset="-122"/>
                <a:cs typeface="Cambria" pitchFamily="34" charset="-120"/>
              </a:rPr>
              <a:t>Helping adults overcome years of chronic joint tightness by retraining the nervous system, turning stiff and frustrated bodies into agile, pain-free movers who can achieve splits safely.</a:t>
            </a:r>
            <a:endParaRPr lang="en-US" sz="2200" dirty="0"/>
          </a:p>
        </p:txBody>
      </p:sp>
      <p:sp>
        <p:nvSpPr>
          <p:cNvPr id="10" name="Text 8"/>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6B6F68"/>
                </a:solidFill>
                <a:latin typeface="Calibri" pitchFamily="34" charset="0"/>
                <a:ea typeface="Calibri" pitchFamily="34" charset="-122"/>
                <a:cs typeface="Calibri" pitchFamily="34" charset="-120"/>
              </a:rPr>
              <a:t>Monetisation Audit  ·  @lena_abuela</a:t>
            </a:r>
            <a:endParaRPr lang="en-US" sz="1000" dirty="0"/>
          </a:p>
        </p:txBody>
      </p:sp>
      <p:sp>
        <p:nvSpPr>
          <p:cNvPr id="11" name="Text 9"/>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6B6F6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SECTION 02</a:t>
            </a:r>
            <a:endParaRPr lang="en-US" sz="1200" dirty="0"/>
          </a:p>
        </p:txBody>
      </p:sp>
      <p:sp>
        <p:nvSpPr>
          <p:cNvPr id="3" name="Text 1"/>
          <p:cNvSpPr txBox="1"/>
          <p:nvPr/>
        </p:nvSpPr>
        <p:spPr>
          <a:xfrm>
            <a:off x="685800" y="749808"/>
            <a:ext cx="10820095" cy="731520"/>
          </a:xfrm>
          <a:prstGeom prst="rect">
            <a:avLst/>
          </a:prstGeom>
          <a:noFill/>
          <a:ln/>
        </p:spPr>
        <p:txBody>
          <a:bodyPr wrap="square" lIns="0" tIns="0" rIns="0" bIns="0" rtlCol="0" anchor="t"/>
          <a:lstStyle/>
          <a:p>
            <a:pPr indent="0" marL="0">
              <a:buNone/>
            </a:pPr>
            <a:r>
              <a:rPr lang="en-US" sz="3200" b="1" dirty="0">
                <a:solidFill>
                  <a:srgbClr val="1E2A24"/>
                </a:solidFill>
                <a:latin typeface="Cambria" pitchFamily="34" charset="0"/>
                <a:ea typeface="Cambria" pitchFamily="34" charset="-122"/>
                <a:cs typeface="Cambria" pitchFamily="34" charset="-120"/>
              </a:rPr>
              <a:t>The Opportunity (Demand Analysis)</a:t>
            </a:r>
            <a:endParaRPr lang="en-US" sz="3200" dirty="0"/>
          </a:p>
        </p:txBody>
      </p:sp>
      <p:sp>
        <p:nvSpPr>
          <p:cNvPr id="4" name="Text 2"/>
          <p:cNvSpPr txBox="1"/>
          <p:nvPr/>
        </p:nvSpPr>
        <p:spPr>
          <a:xfrm>
            <a:off x="685800" y="1417320"/>
            <a:ext cx="10820095" cy="320040"/>
          </a:xfrm>
          <a:prstGeom prst="rect">
            <a:avLst/>
          </a:prstGeom>
          <a:noFill/>
          <a:ln/>
        </p:spPr>
        <p:txBody>
          <a:bodyPr wrap="square" lIns="0" tIns="0" rIns="0" bIns="0" rtlCol="0" anchor="t"/>
          <a:lstStyle/>
          <a:p>
            <a:pPr indent="0" marL="0">
              <a:buNone/>
            </a:pPr>
            <a:r>
              <a:rPr lang="en-US" sz="1500" i="1" dirty="0">
                <a:solidFill>
                  <a:srgbClr val="6B6F68"/>
                </a:solidFill>
                <a:latin typeface="Calibri" pitchFamily="34" charset="0"/>
                <a:ea typeface="Calibri" pitchFamily="34" charset="-122"/>
                <a:cs typeface="Calibri" pitchFamily="34" charset="-120"/>
              </a:rPr>
              <a:t>I analyzed your content and provided data. Here is what the numbers say:</a:t>
            </a:r>
            <a:endParaRPr lang="en-US" sz="1500" dirty="0"/>
          </a:p>
        </p:txBody>
      </p:sp>
      <p:sp>
        <p:nvSpPr>
          <p:cNvPr id="5" name="Shape 3"/>
          <p:cNvSpPr/>
          <p:nvPr/>
        </p:nvSpPr>
        <p:spPr>
          <a:xfrm>
            <a:off x="685800" y="2011680"/>
            <a:ext cx="10820095" cy="4023360"/>
          </a:xfrm>
          <a:prstGeom prst="roundRect">
            <a:avLst>
              <a:gd name="adj" fmla="val 1818"/>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1097280" y="2377440"/>
            <a:ext cx="809244" cy="292608"/>
          </a:xfrm>
          <a:prstGeom prst="roundRect">
            <a:avLst>
              <a:gd name="adj" fmla="val 50000"/>
            </a:avLst>
          </a:prstGeom>
          <a:solidFill>
            <a:srgbClr val="B86F42"/>
          </a:solidFill>
          <a:ln w="6350">
            <a:solidFill>
              <a:srgbClr val="B86F42"/>
            </a:solidFill>
            <a:prstDash val="solid"/>
          </a:ln>
        </p:spPr>
      </p:sp>
      <p:sp>
        <p:nvSpPr>
          <p:cNvPr id="7" name="Text 5"/>
          <p:cNvSpPr txBox="1"/>
          <p:nvPr/>
        </p:nvSpPr>
        <p:spPr>
          <a:xfrm>
            <a:off x="1097280" y="2377440"/>
            <a:ext cx="809244" cy="292608"/>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THEME 1</a:t>
            </a:r>
            <a:endParaRPr lang="en-US" sz="1050" dirty="0"/>
          </a:p>
        </p:txBody>
      </p:sp>
      <p:sp>
        <p:nvSpPr>
          <p:cNvPr id="8" name="Text 6"/>
          <p:cNvSpPr txBox="1"/>
          <p:nvPr/>
        </p:nvSpPr>
        <p:spPr>
          <a:xfrm>
            <a:off x="1097280" y="2788920"/>
            <a:ext cx="6309360" cy="777240"/>
          </a:xfrm>
          <a:prstGeom prst="rect">
            <a:avLst/>
          </a:prstGeom>
          <a:noFill/>
          <a:ln/>
        </p:spPr>
        <p:txBody>
          <a:bodyPr wrap="square" lIns="0" tIns="0" rIns="0" bIns="0" rtlCol="0" anchor="t"/>
          <a:lstStyle/>
          <a:p>
            <a:pPr indent="0" marL="0">
              <a:buNone/>
            </a:pPr>
            <a:r>
              <a:rPr lang="en-US" sz="2000" b="1" dirty="0">
                <a:solidFill>
                  <a:srgbClr val="1E2A24"/>
                </a:solidFill>
                <a:latin typeface="Cambria" pitchFamily="34" charset="0"/>
                <a:ea typeface="Cambria" pitchFamily="34" charset="-122"/>
                <a:cs typeface="Cambria" pitchFamily="34" charset="-120"/>
              </a:rPr>
              <a:t>The Nervous System &amp; Neuromuscular Control (The Science of Flexibility)</a:t>
            </a:r>
            <a:endParaRPr lang="en-US" sz="2000" dirty="0"/>
          </a:p>
        </p:txBody>
      </p:sp>
      <p:sp>
        <p:nvSpPr>
          <p:cNvPr id="9" name="Text 7"/>
          <p:cNvSpPr txBox="1"/>
          <p:nvPr/>
        </p:nvSpPr>
        <p:spPr>
          <a:xfrm>
            <a:off x="1097280" y="3657600"/>
            <a:ext cx="6309360" cy="1280160"/>
          </a:xfrm>
          <a:prstGeom prst="rect">
            <a:avLst/>
          </a:prstGeom>
          <a:noFill/>
          <a:ln/>
        </p:spPr>
        <p:txBody>
          <a:bodyPr wrap="square" lIns="0" tIns="0" rIns="0" bIns="0" rtlCol="0" anchor="t"/>
          <a:lstStyle/>
          <a:p>
            <a:pPr indent="0" marL="0">
              <a:buNone/>
            </a:pPr>
            <a:r>
              <a:rPr lang="en-US" sz="1300" b="1" dirty="0">
                <a:solidFill>
                  <a:srgbClr val="1E2A24"/>
                </a:solidFill>
                <a:latin typeface="Calibri" pitchFamily="34" charset="0"/>
                <a:ea typeface="Calibri" pitchFamily="34" charset="-122"/>
                <a:cs typeface="Calibri" pitchFamily="34" charset="-120"/>
              </a:rPr>
              <a:t>Observed Engagement: </a:t>
            </a:r>
            <a:pPr indent="0" marL="0">
              <a:buNone/>
            </a:pPr>
            <a:r>
              <a:rPr lang="en-US" sz="1300" dirty="0">
                <a:solidFill>
                  <a:srgbClr val="1E2A24"/>
                </a:solidFill>
                <a:latin typeface="Calibri" pitchFamily="34" charset="0"/>
                <a:ea typeface="Calibri" pitchFamily="34" charset="-122"/>
                <a:cs typeface="Calibri" pitchFamily="34" charset="-120"/>
              </a:rPr>
              <a:t>7,690 likes, 44 comments, and 123,069 views on your pancake mobility breakdown. This is by far your strongest piece of content. Your audience stops scrolling when you explain that tightness is a protective neurological reflex, not just "short muscles."</a:t>
            </a:r>
            <a:endParaRPr lang="en-US" sz="1300" dirty="0"/>
          </a:p>
        </p:txBody>
      </p:sp>
      <p:sp>
        <p:nvSpPr>
          <p:cNvPr id="10" name="Text 8"/>
          <p:cNvSpPr txBox="1"/>
          <p:nvPr/>
        </p:nvSpPr>
        <p:spPr>
          <a:xfrm>
            <a:off x="1097280" y="5029200"/>
            <a:ext cx="6309360" cy="868680"/>
          </a:xfrm>
          <a:prstGeom prst="rect">
            <a:avLst/>
          </a:prstGeom>
          <a:noFill/>
          <a:ln/>
        </p:spPr>
        <p:txBody>
          <a:bodyPr wrap="square" lIns="0" tIns="0" rIns="0" bIns="0" rtlCol="0" anchor="t"/>
          <a:lstStyle/>
          <a:p>
            <a:pPr indent="0" marL="0">
              <a:buNone/>
            </a:pPr>
            <a:r>
              <a:rPr lang="en-US" sz="1300" b="1" dirty="0">
                <a:solidFill>
                  <a:srgbClr val="1E2A24"/>
                </a:solidFill>
                <a:latin typeface="Calibri" pitchFamily="34" charset="0"/>
                <a:ea typeface="Calibri" pitchFamily="34" charset="-122"/>
                <a:cs typeface="Calibri" pitchFamily="34" charset="-120"/>
              </a:rPr>
              <a:t>Sales Potential: </a:t>
            </a:r>
            <a:pPr indent="0" marL="0">
              <a:buNone/>
            </a:pPr>
            <a:r>
              <a:rPr lang="en-US" sz="1300" dirty="0">
                <a:solidFill>
                  <a:srgbClr val="1E2A24"/>
                </a:solidFill>
                <a:latin typeface="Calibri" pitchFamily="34" charset="0"/>
                <a:ea typeface="Calibri" pitchFamily="34" charset="-122"/>
                <a:cs typeface="Calibri" pitchFamily="34" charset="-120"/>
              </a:rPr>
              <a:t>High. Your audience does not want more random passive stretching. They want a clinical, structured method that unlocks range without triggering pain.</a:t>
            </a:r>
            <a:endParaRPr lang="en-US" sz="1300" dirty="0"/>
          </a:p>
        </p:txBody>
      </p:sp>
      <p:sp>
        <p:nvSpPr>
          <p:cNvPr id="11" name="Text 9"/>
          <p:cNvSpPr txBox="1"/>
          <p:nvPr/>
        </p:nvSpPr>
        <p:spPr>
          <a:xfrm>
            <a:off x="7909560" y="2423160"/>
            <a:ext cx="3184855" cy="685800"/>
          </a:xfrm>
          <a:prstGeom prst="rect">
            <a:avLst/>
          </a:prstGeom>
          <a:noFill/>
          <a:ln/>
        </p:spPr>
        <p:txBody>
          <a:bodyPr wrap="square" lIns="0" tIns="0" rIns="0" bIns="0" rtlCol="0" anchor="t"/>
          <a:lstStyle/>
          <a:p>
            <a:pPr indent="0" marL="0">
              <a:buNone/>
            </a:pPr>
            <a:r>
              <a:rPr lang="en-US" sz="4000" b="1" dirty="0">
                <a:solidFill>
                  <a:srgbClr val="B86F42"/>
                </a:solidFill>
                <a:latin typeface="Cambria" pitchFamily="34" charset="0"/>
                <a:ea typeface="Cambria" pitchFamily="34" charset="-122"/>
                <a:cs typeface="Cambria" pitchFamily="34" charset="-120"/>
              </a:rPr>
              <a:t>123,069</a:t>
            </a:r>
            <a:endParaRPr lang="en-US" sz="4000" dirty="0"/>
          </a:p>
        </p:txBody>
      </p:sp>
      <p:sp>
        <p:nvSpPr>
          <p:cNvPr id="12" name="Text 10"/>
          <p:cNvSpPr txBox="1"/>
          <p:nvPr/>
        </p:nvSpPr>
        <p:spPr>
          <a:xfrm>
            <a:off x="7909560" y="3108960"/>
            <a:ext cx="3184855" cy="274320"/>
          </a:xfrm>
          <a:prstGeom prst="rect">
            <a:avLst/>
          </a:prstGeom>
          <a:noFill/>
          <a:ln/>
        </p:spPr>
        <p:txBody>
          <a:bodyPr wrap="square" lIns="0" tIns="0" rIns="0" bIns="0" rtlCol="0" anchor="t"/>
          <a:lstStyle/>
          <a:p>
            <a:pPr indent="0" marL="0">
              <a:buNone/>
            </a:pPr>
            <a:r>
              <a:rPr lang="en-US" sz="1300" dirty="0">
                <a:solidFill>
                  <a:srgbClr val="6B6F68"/>
                </a:solidFill>
                <a:latin typeface="Calibri" pitchFamily="34" charset="0"/>
                <a:ea typeface="Calibri" pitchFamily="34" charset="-122"/>
                <a:cs typeface="Calibri" pitchFamily="34" charset="-120"/>
              </a:rPr>
              <a:t>views</a:t>
            </a:r>
            <a:endParaRPr lang="en-US" sz="1300" dirty="0"/>
          </a:p>
        </p:txBody>
      </p:sp>
      <p:sp>
        <p:nvSpPr>
          <p:cNvPr id="13" name="Text 11"/>
          <p:cNvSpPr txBox="1"/>
          <p:nvPr/>
        </p:nvSpPr>
        <p:spPr>
          <a:xfrm>
            <a:off x="7909560" y="3611880"/>
            <a:ext cx="3184855" cy="685800"/>
          </a:xfrm>
          <a:prstGeom prst="rect">
            <a:avLst/>
          </a:prstGeom>
          <a:noFill/>
          <a:ln/>
        </p:spPr>
        <p:txBody>
          <a:bodyPr wrap="square" lIns="0" tIns="0" rIns="0" bIns="0" rtlCol="0" anchor="t"/>
          <a:lstStyle/>
          <a:p>
            <a:pPr indent="0" marL="0">
              <a:buNone/>
            </a:pPr>
            <a:r>
              <a:rPr lang="en-US" sz="4000" b="1" dirty="0">
                <a:solidFill>
                  <a:srgbClr val="B86F42"/>
                </a:solidFill>
                <a:latin typeface="Cambria" pitchFamily="34" charset="0"/>
                <a:ea typeface="Cambria" pitchFamily="34" charset="-122"/>
                <a:cs typeface="Cambria" pitchFamily="34" charset="-120"/>
              </a:rPr>
              <a:t>7,690</a:t>
            </a:r>
            <a:endParaRPr lang="en-US" sz="4000" dirty="0"/>
          </a:p>
        </p:txBody>
      </p:sp>
      <p:sp>
        <p:nvSpPr>
          <p:cNvPr id="14" name="Text 12"/>
          <p:cNvSpPr txBox="1"/>
          <p:nvPr/>
        </p:nvSpPr>
        <p:spPr>
          <a:xfrm>
            <a:off x="7909560" y="4297680"/>
            <a:ext cx="3184855" cy="274320"/>
          </a:xfrm>
          <a:prstGeom prst="rect">
            <a:avLst/>
          </a:prstGeom>
          <a:noFill/>
          <a:ln/>
        </p:spPr>
        <p:txBody>
          <a:bodyPr wrap="square" lIns="0" tIns="0" rIns="0" bIns="0" rtlCol="0" anchor="t"/>
          <a:lstStyle/>
          <a:p>
            <a:pPr indent="0" marL="0">
              <a:buNone/>
            </a:pPr>
            <a:r>
              <a:rPr lang="en-US" sz="1300" dirty="0">
                <a:solidFill>
                  <a:srgbClr val="6B6F68"/>
                </a:solidFill>
                <a:latin typeface="Calibri" pitchFamily="34" charset="0"/>
                <a:ea typeface="Calibri" pitchFamily="34" charset="-122"/>
                <a:cs typeface="Calibri" pitchFamily="34" charset="-120"/>
              </a:rPr>
              <a:t>likes</a:t>
            </a:r>
            <a:endParaRPr lang="en-US" sz="1300" dirty="0"/>
          </a:p>
        </p:txBody>
      </p:sp>
      <p:sp>
        <p:nvSpPr>
          <p:cNvPr id="15" name="Text 13"/>
          <p:cNvSpPr txBox="1"/>
          <p:nvPr/>
        </p:nvSpPr>
        <p:spPr>
          <a:xfrm>
            <a:off x="7909560" y="4800600"/>
            <a:ext cx="3184855" cy="685800"/>
          </a:xfrm>
          <a:prstGeom prst="rect">
            <a:avLst/>
          </a:prstGeom>
          <a:noFill/>
          <a:ln/>
        </p:spPr>
        <p:txBody>
          <a:bodyPr wrap="square" lIns="0" tIns="0" rIns="0" bIns="0" rtlCol="0" anchor="t"/>
          <a:lstStyle/>
          <a:p>
            <a:pPr indent="0" marL="0">
              <a:buNone/>
            </a:pPr>
            <a:r>
              <a:rPr lang="en-US" sz="4000" b="1" dirty="0">
                <a:solidFill>
                  <a:srgbClr val="B86F42"/>
                </a:solidFill>
                <a:latin typeface="Cambria" pitchFamily="34" charset="0"/>
                <a:ea typeface="Cambria" pitchFamily="34" charset="-122"/>
                <a:cs typeface="Cambria" pitchFamily="34" charset="-120"/>
              </a:rPr>
              <a:t>44</a:t>
            </a:r>
            <a:endParaRPr lang="en-US" sz="4000" dirty="0"/>
          </a:p>
        </p:txBody>
      </p:sp>
      <p:sp>
        <p:nvSpPr>
          <p:cNvPr id="16" name="Text 14"/>
          <p:cNvSpPr txBox="1"/>
          <p:nvPr/>
        </p:nvSpPr>
        <p:spPr>
          <a:xfrm>
            <a:off x="7909560" y="5486400"/>
            <a:ext cx="3184855" cy="274320"/>
          </a:xfrm>
          <a:prstGeom prst="rect">
            <a:avLst/>
          </a:prstGeom>
          <a:noFill/>
          <a:ln/>
        </p:spPr>
        <p:txBody>
          <a:bodyPr wrap="square" lIns="0" tIns="0" rIns="0" bIns="0" rtlCol="0" anchor="t"/>
          <a:lstStyle/>
          <a:p>
            <a:pPr indent="0" marL="0">
              <a:buNone/>
            </a:pPr>
            <a:r>
              <a:rPr lang="en-US" sz="1300" dirty="0">
                <a:solidFill>
                  <a:srgbClr val="6B6F68"/>
                </a:solidFill>
                <a:latin typeface="Calibri" pitchFamily="34" charset="0"/>
                <a:ea typeface="Calibri" pitchFamily="34" charset="-122"/>
                <a:cs typeface="Calibri" pitchFamily="34" charset="-120"/>
              </a:rPr>
              <a:t>comments</a:t>
            </a:r>
            <a:endParaRPr lang="en-US" sz="1300" dirty="0"/>
          </a:p>
        </p:txBody>
      </p:sp>
      <p:sp>
        <p:nvSpPr>
          <p:cNvPr id="17" name="Text 15"/>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6B6F68"/>
                </a:solidFill>
                <a:latin typeface="Calibri" pitchFamily="34" charset="0"/>
                <a:ea typeface="Calibri" pitchFamily="34" charset="-122"/>
                <a:cs typeface="Calibri" pitchFamily="34" charset="-120"/>
              </a:rPr>
              <a:t>Monetisation Audit  ·  @lena_abuela</a:t>
            </a:r>
            <a:endParaRPr lang="en-US" sz="1000" dirty="0"/>
          </a:p>
        </p:txBody>
      </p:sp>
      <p:sp>
        <p:nvSpPr>
          <p:cNvPr id="18" name="Text 16"/>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6B6F6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SECTION 02</a:t>
            </a:r>
            <a:endParaRPr lang="en-US" sz="1200" dirty="0"/>
          </a:p>
        </p:txBody>
      </p:sp>
      <p:sp>
        <p:nvSpPr>
          <p:cNvPr id="3" name="Text 1"/>
          <p:cNvSpPr txBox="1"/>
          <p:nvPr/>
        </p:nvSpPr>
        <p:spPr>
          <a:xfrm>
            <a:off x="685800" y="749808"/>
            <a:ext cx="10820095" cy="731520"/>
          </a:xfrm>
          <a:prstGeom prst="rect">
            <a:avLst/>
          </a:prstGeom>
          <a:noFill/>
          <a:ln/>
        </p:spPr>
        <p:txBody>
          <a:bodyPr wrap="square" lIns="0" tIns="0" rIns="0" bIns="0" rtlCol="0" anchor="t"/>
          <a:lstStyle/>
          <a:p>
            <a:pPr indent="0" marL="0">
              <a:buNone/>
            </a:pPr>
            <a:r>
              <a:rPr lang="en-US" sz="3200" b="1" dirty="0">
                <a:solidFill>
                  <a:srgbClr val="1E2A24"/>
                </a:solidFill>
                <a:latin typeface="Cambria" pitchFamily="34" charset="0"/>
                <a:ea typeface="Cambria" pitchFamily="34" charset="-122"/>
                <a:cs typeface="Cambria" pitchFamily="34" charset="-120"/>
              </a:rPr>
              <a:t>The Opportunity (Demand Analysis)</a:t>
            </a:r>
            <a:endParaRPr lang="en-US" sz="3200" dirty="0"/>
          </a:p>
        </p:txBody>
      </p:sp>
      <p:sp>
        <p:nvSpPr>
          <p:cNvPr id="4" name="Shape 2"/>
          <p:cNvSpPr/>
          <p:nvPr/>
        </p:nvSpPr>
        <p:spPr>
          <a:xfrm>
            <a:off x="685800" y="1691640"/>
            <a:ext cx="5250028" cy="4434840"/>
          </a:xfrm>
          <a:prstGeom prst="roundRect">
            <a:avLst>
              <a:gd name="adj" fmla="val 1649"/>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1051560" y="2011680"/>
            <a:ext cx="809244" cy="292608"/>
          </a:xfrm>
          <a:prstGeom prst="roundRect">
            <a:avLst>
              <a:gd name="adj" fmla="val 50000"/>
            </a:avLst>
          </a:prstGeom>
          <a:solidFill>
            <a:srgbClr val="B86F42"/>
          </a:solidFill>
          <a:ln w="6350">
            <a:solidFill>
              <a:srgbClr val="B86F42"/>
            </a:solidFill>
            <a:prstDash val="solid"/>
          </a:ln>
        </p:spPr>
      </p:sp>
      <p:sp>
        <p:nvSpPr>
          <p:cNvPr id="6" name="Text 4"/>
          <p:cNvSpPr txBox="1"/>
          <p:nvPr/>
        </p:nvSpPr>
        <p:spPr>
          <a:xfrm>
            <a:off x="1051560" y="2011680"/>
            <a:ext cx="809244" cy="292608"/>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THEME 2</a:t>
            </a:r>
            <a:endParaRPr lang="en-US" sz="1050" dirty="0"/>
          </a:p>
        </p:txBody>
      </p:sp>
      <p:sp>
        <p:nvSpPr>
          <p:cNvPr id="7" name="Text 5"/>
          <p:cNvSpPr txBox="1"/>
          <p:nvPr/>
        </p:nvSpPr>
        <p:spPr>
          <a:xfrm>
            <a:off x="1051560" y="2423160"/>
            <a:ext cx="4518508" cy="731520"/>
          </a:xfrm>
          <a:prstGeom prst="rect">
            <a:avLst/>
          </a:prstGeom>
          <a:noFill/>
          <a:ln/>
        </p:spPr>
        <p:txBody>
          <a:bodyPr wrap="square" lIns="0" tIns="0" rIns="0" bIns="0" rtlCol="0" anchor="t"/>
          <a:lstStyle/>
          <a:p>
            <a:pPr indent="0" marL="0">
              <a:buNone/>
            </a:pPr>
            <a:r>
              <a:rPr lang="en-US" sz="1800" b="1" dirty="0">
                <a:solidFill>
                  <a:srgbClr val="1E2A24"/>
                </a:solidFill>
                <a:latin typeface="Cambria" pitchFamily="34" charset="0"/>
                <a:ea typeface="Cambria" pitchFamily="34" charset="-122"/>
                <a:cs typeface="Cambria" pitchFamily="34" charset="-120"/>
              </a:rPr>
              <a:t>Spinal Mobility &amp; Functional Posture (Backbend Routines)</a:t>
            </a:r>
            <a:endParaRPr lang="en-US" sz="1800" dirty="0"/>
          </a:p>
        </p:txBody>
      </p:sp>
      <p:sp>
        <p:nvSpPr>
          <p:cNvPr id="8" name="Text 6"/>
          <p:cNvSpPr txBox="1"/>
          <p:nvPr/>
        </p:nvSpPr>
        <p:spPr>
          <a:xfrm>
            <a:off x="1051560" y="3200400"/>
            <a:ext cx="1645920" cy="548640"/>
          </a:xfrm>
          <a:prstGeom prst="rect">
            <a:avLst/>
          </a:prstGeom>
          <a:noFill/>
          <a:ln/>
        </p:spPr>
        <p:txBody>
          <a:bodyPr wrap="square" lIns="0" tIns="0" rIns="0" bIns="0" rtlCol="0" anchor="t"/>
          <a:lstStyle/>
          <a:p>
            <a:pPr indent="0" marL="0">
              <a:buNone/>
            </a:pPr>
            <a:r>
              <a:rPr lang="en-US" sz="3200" b="1" dirty="0">
                <a:solidFill>
                  <a:srgbClr val="B86F42"/>
                </a:solidFill>
                <a:latin typeface="Cambria" pitchFamily="34" charset="0"/>
                <a:ea typeface="Cambria" pitchFamily="34" charset="-122"/>
                <a:cs typeface="Cambria" pitchFamily="34" charset="-120"/>
              </a:rPr>
              <a:t>4,327</a:t>
            </a:r>
            <a:endParaRPr lang="en-US" sz="3200" dirty="0"/>
          </a:p>
        </p:txBody>
      </p:sp>
      <p:sp>
        <p:nvSpPr>
          <p:cNvPr id="9" name="Text 7"/>
          <p:cNvSpPr txBox="1"/>
          <p:nvPr/>
        </p:nvSpPr>
        <p:spPr>
          <a:xfrm>
            <a:off x="1051560" y="3749040"/>
            <a:ext cx="1645920" cy="256032"/>
          </a:xfrm>
          <a:prstGeom prst="rect">
            <a:avLst/>
          </a:prstGeom>
          <a:noFill/>
          <a:ln/>
        </p:spPr>
        <p:txBody>
          <a:bodyPr wrap="square" lIns="0" tIns="0" rIns="0" bIns="0" rtlCol="0" anchor="t"/>
          <a:lstStyle/>
          <a:p>
            <a:pPr indent="0" marL="0">
              <a:buNone/>
            </a:pPr>
            <a:r>
              <a:rPr lang="en-US" sz="1200" dirty="0">
                <a:solidFill>
                  <a:srgbClr val="6B6F68"/>
                </a:solidFill>
                <a:latin typeface="Calibri" pitchFamily="34" charset="0"/>
                <a:ea typeface="Calibri" pitchFamily="34" charset="-122"/>
                <a:cs typeface="Calibri" pitchFamily="34" charset="-120"/>
              </a:rPr>
              <a:t>likes</a:t>
            </a:r>
            <a:endParaRPr lang="en-US" sz="1200" dirty="0"/>
          </a:p>
        </p:txBody>
      </p:sp>
      <p:sp>
        <p:nvSpPr>
          <p:cNvPr id="10" name="Text 8"/>
          <p:cNvSpPr txBox="1"/>
          <p:nvPr/>
        </p:nvSpPr>
        <p:spPr>
          <a:xfrm>
            <a:off x="2788920" y="3200400"/>
            <a:ext cx="1645920" cy="548640"/>
          </a:xfrm>
          <a:prstGeom prst="rect">
            <a:avLst/>
          </a:prstGeom>
          <a:noFill/>
          <a:ln/>
        </p:spPr>
        <p:txBody>
          <a:bodyPr wrap="square" lIns="0" tIns="0" rIns="0" bIns="0" rtlCol="0" anchor="t"/>
          <a:lstStyle/>
          <a:p>
            <a:pPr indent="0" marL="0">
              <a:buNone/>
            </a:pPr>
            <a:r>
              <a:rPr lang="en-US" sz="3200" b="1" dirty="0">
                <a:solidFill>
                  <a:srgbClr val="B86F42"/>
                </a:solidFill>
                <a:latin typeface="Cambria" pitchFamily="34" charset="0"/>
                <a:ea typeface="Cambria" pitchFamily="34" charset="-122"/>
                <a:cs typeface="Cambria" pitchFamily="34" charset="-120"/>
              </a:rPr>
              <a:t>43</a:t>
            </a:r>
            <a:endParaRPr lang="en-US" sz="3200" dirty="0"/>
          </a:p>
        </p:txBody>
      </p:sp>
      <p:sp>
        <p:nvSpPr>
          <p:cNvPr id="11" name="Text 9"/>
          <p:cNvSpPr txBox="1"/>
          <p:nvPr/>
        </p:nvSpPr>
        <p:spPr>
          <a:xfrm>
            <a:off x="2788920" y="3749040"/>
            <a:ext cx="1645920" cy="256032"/>
          </a:xfrm>
          <a:prstGeom prst="rect">
            <a:avLst/>
          </a:prstGeom>
          <a:noFill/>
          <a:ln/>
        </p:spPr>
        <p:txBody>
          <a:bodyPr wrap="square" lIns="0" tIns="0" rIns="0" bIns="0" rtlCol="0" anchor="t"/>
          <a:lstStyle/>
          <a:p>
            <a:pPr indent="0" marL="0">
              <a:buNone/>
            </a:pPr>
            <a:r>
              <a:rPr lang="en-US" sz="1200" dirty="0">
                <a:solidFill>
                  <a:srgbClr val="6B6F68"/>
                </a:solidFill>
                <a:latin typeface="Calibri" pitchFamily="34" charset="0"/>
                <a:ea typeface="Calibri" pitchFamily="34" charset="-122"/>
                <a:cs typeface="Calibri" pitchFamily="34" charset="-120"/>
              </a:rPr>
              <a:t>comments</a:t>
            </a:r>
            <a:endParaRPr lang="en-US" sz="1200" dirty="0"/>
          </a:p>
        </p:txBody>
      </p:sp>
      <p:sp>
        <p:nvSpPr>
          <p:cNvPr id="12" name="Text 10"/>
          <p:cNvSpPr txBox="1"/>
          <p:nvPr/>
        </p:nvSpPr>
        <p:spPr>
          <a:xfrm>
            <a:off x="1051560" y="4160520"/>
            <a:ext cx="4518508" cy="914400"/>
          </a:xfrm>
          <a:prstGeom prst="rect">
            <a:avLst/>
          </a:prstGeom>
          <a:noFill/>
          <a:ln/>
        </p:spPr>
        <p:txBody>
          <a:bodyPr wrap="square" lIns="0" tIns="0" rIns="0" bIns="0" rtlCol="0" anchor="t"/>
          <a:lstStyle/>
          <a:p>
            <a:pPr indent="0" marL="0">
              <a:buNone/>
            </a:pPr>
            <a:r>
              <a:rPr lang="en-US" sz="1250" b="1" dirty="0">
                <a:solidFill>
                  <a:srgbClr val="1E2A24"/>
                </a:solidFill>
                <a:latin typeface="Calibri" pitchFamily="34" charset="0"/>
                <a:ea typeface="Calibri" pitchFamily="34" charset="-122"/>
                <a:cs typeface="Calibri" pitchFamily="34" charset="-120"/>
              </a:rPr>
              <a:t>Observed Engagement: </a:t>
            </a:r>
            <a:pPr indent="0" marL="0">
              <a:buNone/>
            </a:pPr>
            <a:r>
              <a:rPr lang="en-US" sz="1250" dirty="0">
                <a:solidFill>
                  <a:srgbClr val="1E2A24"/>
                </a:solidFill>
                <a:latin typeface="Calibri" pitchFamily="34" charset="0"/>
                <a:ea typeface="Calibri" pitchFamily="34" charset="-122"/>
                <a:cs typeface="Calibri" pitchFamily="34" charset="-120"/>
              </a:rPr>
              <a:t>4,327 likes and 43 comments on your backbend therapy routine. High emotional resonance around feeling liberated, open, and at home in your own spine.</a:t>
            </a:r>
            <a:endParaRPr lang="en-US" sz="1250" dirty="0"/>
          </a:p>
        </p:txBody>
      </p:sp>
      <p:sp>
        <p:nvSpPr>
          <p:cNvPr id="13" name="Text 11"/>
          <p:cNvSpPr txBox="1"/>
          <p:nvPr/>
        </p:nvSpPr>
        <p:spPr>
          <a:xfrm>
            <a:off x="1051560" y="5120640"/>
            <a:ext cx="4518508" cy="914400"/>
          </a:xfrm>
          <a:prstGeom prst="rect">
            <a:avLst/>
          </a:prstGeom>
          <a:noFill/>
          <a:ln/>
        </p:spPr>
        <p:txBody>
          <a:bodyPr wrap="square" lIns="0" tIns="0" rIns="0" bIns="0" rtlCol="0" anchor="t"/>
          <a:lstStyle/>
          <a:p>
            <a:pPr indent="0" marL="0">
              <a:buNone/>
            </a:pPr>
            <a:r>
              <a:rPr lang="en-US" sz="1250" b="1" dirty="0">
                <a:solidFill>
                  <a:srgbClr val="1E2A24"/>
                </a:solidFill>
                <a:latin typeface="Calibri" pitchFamily="34" charset="0"/>
                <a:ea typeface="Calibri" pitchFamily="34" charset="-122"/>
                <a:cs typeface="Calibri" pitchFamily="34" charset="-120"/>
              </a:rPr>
              <a:t>Sales Potential: </a:t>
            </a:r>
            <a:pPr indent="0" marL="0">
              <a:buNone/>
            </a:pPr>
            <a:r>
              <a:rPr lang="en-US" sz="1250" dirty="0">
                <a:solidFill>
                  <a:srgbClr val="1E2A24"/>
                </a:solidFill>
                <a:latin typeface="Calibri" pitchFamily="34" charset="0"/>
                <a:ea typeface="Calibri" pitchFamily="34" charset="-122"/>
                <a:cs typeface="Calibri" pitchFamily="34" charset="-120"/>
              </a:rPr>
              <a:t>High. Connects movement with physical relief and confidence, bridging the gap between aesthetics and daily physical wellbeing.</a:t>
            </a:r>
            <a:endParaRPr lang="en-US" sz="1250" dirty="0"/>
          </a:p>
        </p:txBody>
      </p:sp>
      <p:sp>
        <p:nvSpPr>
          <p:cNvPr id="14" name="Shape 12"/>
          <p:cNvSpPr/>
          <p:nvPr/>
        </p:nvSpPr>
        <p:spPr>
          <a:xfrm>
            <a:off x="6255868" y="1691640"/>
            <a:ext cx="5250028" cy="4434840"/>
          </a:xfrm>
          <a:prstGeom prst="roundRect">
            <a:avLst>
              <a:gd name="adj" fmla="val 1649"/>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15" name="Shape 13"/>
          <p:cNvSpPr/>
          <p:nvPr/>
        </p:nvSpPr>
        <p:spPr>
          <a:xfrm>
            <a:off x="6621628" y="2011680"/>
            <a:ext cx="809244" cy="292608"/>
          </a:xfrm>
          <a:prstGeom prst="roundRect">
            <a:avLst>
              <a:gd name="adj" fmla="val 50000"/>
            </a:avLst>
          </a:prstGeom>
          <a:solidFill>
            <a:srgbClr val="B86F42"/>
          </a:solidFill>
          <a:ln w="6350">
            <a:solidFill>
              <a:srgbClr val="B86F42"/>
            </a:solidFill>
            <a:prstDash val="solid"/>
          </a:ln>
        </p:spPr>
      </p:sp>
      <p:sp>
        <p:nvSpPr>
          <p:cNvPr id="16" name="Text 14"/>
          <p:cNvSpPr txBox="1"/>
          <p:nvPr/>
        </p:nvSpPr>
        <p:spPr>
          <a:xfrm>
            <a:off x="6621628" y="2011680"/>
            <a:ext cx="809244" cy="292608"/>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THEME 3</a:t>
            </a:r>
            <a:endParaRPr lang="en-US" sz="1050" dirty="0"/>
          </a:p>
        </p:txBody>
      </p:sp>
      <p:sp>
        <p:nvSpPr>
          <p:cNvPr id="17" name="Text 15"/>
          <p:cNvSpPr txBox="1"/>
          <p:nvPr/>
        </p:nvSpPr>
        <p:spPr>
          <a:xfrm>
            <a:off x="6621628" y="2423160"/>
            <a:ext cx="4518508" cy="731520"/>
          </a:xfrm>
          <a:prstGeom prst="rect">
            <a:avLst/>
          </a:prstGeom>
          <a:noFill/>
          <a:ln/>
        </p:spPr>
        <p:txBody>
          <a:bodyPr wrap="square" lIns="0" tIns="0" rIns="0" bIns="0" rtlCol="0" anchor="t"/>
          <a:lstStyle/>
          <a:p>
            <a:pPr indent="0" marL="0">
              <a:buNone/>
            </a:pPr>
            <a:r>
              <a:rPr lang="en-US" sz="1800" b="1" dirty="0">
                <a:solidFill>
                  <a:srgbClr val="1E2A24"/>
                </a:solidFill>
                <a:latin typeface="Cambria" pitchFamily="34" charset="0"/>
                <a:ea typeface="Cambria" pitchFamily="34" charset="-122"/>
                <a:cs typeface="Cambria" pitchFamily="34" charset="-120"/>
              </a:rPr>
              <a:t>Structured Split Drills &amp; Hip Mechanics</a:t>
            </a:r>
            <a:endParaRPr lang="en-US" sz="1800" dirty="0"/>
          </a:p>
        </p:txBody>
      </p:sp>
      <p:sp>
        <p:nvSpPr>
          <p:cNvPr id="18" name="Text 16"/>
          <p:cNvSpPr txBox="1"/>
          <p:nvPr/>
        </p:nvSpPr>
        <p:spPr>
          <a:xfrm>
            <a:off x="6621628" y="3200400"/>
            <a:ext cx="1645920" cy="548640"/>
          </a:xfrm>
          <a:prstGeom prst="rect">
            <a:avLst/>
          </a:prstGeom>
          <a:noFill/>
          <a:ln/>
        </p:spPr>
        <p:txBody>
          <a:bodyPr wrap="square" lIns="0" tIns="0" rIns="0" bIns="0" rtlCol="0" anchor="t"/>
          <a:lstStyle/>
          <a:p>
            <a:pPr indent="0" marL="0">
              <a:buNone/>
            </a:pPr>
            <a:r>
              <a:rPr lang="en-US" sz="3200" b="1" dirty="0">
                <a:solidFill>
                  <a:srgbClr val="B86F42"/>
                </a:solidFill>
                <a:latin typeface="Cambria" pitchFamily="34" charset="0"/>
                <a:ea typeface="Cambria" pitchFamily="34" charset="-122"/>
                <a:cs typeface="Cambria" pitchFamily="34" charset="-120"/>
              </a:rPr>
              <a:t>957</a:t>
            </a:r>
            <a:endParaRPr lang="en-US" sz="3200" dirty="0"/>
          </a:p>
        </p:txBody>
      </p:sp>
      <p:sp>
        <p:nvSpPr>
          <p:cNvPr id="19" name="Text 17"/>
          <p:cNvSpPr txBox="1"/>
          <p:nvPr/>
        </p:nvSpPr>
        <p:spPr>
          <a:xfrm>
            <a:off x="6621628" y="3749040"/>
            <a:ext cx="1645920" cy="256032"/>
          </a:xfrm>
          <a:prstGeom prst="rect">
            <a:avLst/>
          </a:prstGeom>
          <a:noFill/>
          <a:ln/>
        </p:spPr>
        <p:txBody>
          <a:bodyPr wrap="square" lIns="0" tIns="0" rIns="0" bIns="0" rtlCol="0" anchor="t"/>
          <a:lstStyle/>
          <a:p>
            <a:pPr indent="0" marL="0">
              <a:buNone/>
            </a:pPr>
            <a:r>
              <a:rPr lang="en-US" sz="1200" dirty="0">
                <a:solidFill>
                  <a:srgbClr val="6B6F68"/>
                </a:solidFill>
                <a:latin typeface="Calibri" pitchFamily="34" charset="0"/>
                <a:ea typeface="Calibri" pitchFamily="34" charset="-122"/>
                <a:cs typeface="Calibri" pitchFamily="34" charset="-120"/>
              </a:rPr>
              <a:t>likes</a:t>
            </a:r>
            <a:endParaRPr lang="en-US" sz="1200" dirty="0"/>
          </a:p>
        </p:txBody>
      </p:sp>
      <p:sp>
        <p:nvSpPr>
          <p:cNvPr id="20" name="Text 18"/>
          <p:cNvSpPr txBox="1"/>
          <p:nvPr/>
        </p:nvSpPr>
        <p:spPr>
          <a:xfrm>
            <a:off x="8358988" y="3200400"/>
            <a:ext cx="1645920" cy="548640"/>
          </a:xfrm>
          <a:prstGeom prst="rect">
            <a:avLst/>
          </a:prstGeom>
          <a:noFill/>
          <a:ln/>
        </p:spPr>
        <p:txBody>
          <a:bodyPr wrap="square" lIns="0" tIns="0" rIns="0" bIns="0" rtlCol="0" anchor="t"/>
          <a:lstStyle/>
          <a:p>
            <a:pPr indent="0" marL="0">
              <a:buNone/>
            </a:pPr>
            <a:r>
              <a:rPr lang="en-US" sz="3200" b="1" dirty="0">
                <a:solidFill>
                  <a:srgbClr val="B86F42"/>
                </a:solidFill>
                <a:latin typeface="Cambria" pitchFamily="34" charset="0"/>
                <a:ea typeface="Cambria" pitchFamily="34" charset="-122"/>
                <a:cs typeface="Cambria" pitchFamily="34" charset="-120"/>
              </a:rPr>
              <a:t>5</a:t>
            </a:r>
            <a:endParaRPr lang="en-US" sz="3200" dirty="0"/>
          </a:p>
        </p:txBody>
      </p:sp>
      <p:sp>
        <p:nvSpPr>
          <p:cNvPr id="21" name="Text 19"/>
          <p:cNvSpPr txBox="1"/>
          <p:nvPr/>
        </p:nvSpPr>
        <p:spPr>
          <a:xfrm>
            <a:off x="8358988" y="3749040"/>
            <a:ext cx="1645920" cy="256032"/>
          </a:xfrm>
          <a:prstGeom prst="rect">
            <a:avLst/>
          </a:prstGeom>
          <a:noFill/>
          <a:ln/>
        </p:spPr>
        <p:txBody>
          <a:bodyPr wrap="square" lIns="0" tIns="0" rIns="0" bIns="0" rtlCol="0" anchor="t"/>
          <a:lstStyle/>
          <a:p>
            <a:pPr indent="0" marL="0">
              <a:buNone/>
            </a:pPr>
            <a:r>
              <a:rPr lang="en-US" sz="1200" dirty="0">
                <a:solidFill>
                  <a:srgbClr val="6B6F68"/>
                </a:solidFill>
                <a:latin typeface="Calibri" pitchFamily="34" charset="0"/>
                <a:ea typeface="Calibri" pitchFamily="34" charset="-122"/>
                <a:cs typeface="Calibri" pitchFamily="34" charset="-120"/>
              </a:rPr>
              <a:t>comments</a:t>
            </a:r>
            <a:endParaRPr lang="en-US" sz="1200" dirty="0"/>
          </a:p>
        </p:txBody>
      </p:sp>
      <p:sp>
        <p:nvSpPr>
          <p:cNvPr id="22" name="Text 20"/>
          <p:cNvSpPr txBox="1"/>
          <p:nvPr/>
        </p:nvSpPr>
        <p:spPr>
          <a:xfrm>
            <a:off x="6621628" y="4160520"/>
            <a:ext cx="4518508" cy="914400"/>
          </a:xfrm>
          <a:prstGeom prst="rect">
            <a:avLst/>
          </a:prstGeom>
          <a:noFill/>
          <a:ln/>
        </p:spPr>
        <p:txBody>
          <a:bodyPr wrap="square" lIns="0" tIns="0" rIns="0" bIns="0" rtlCol="0" anchor="t"/>
          <a:lstStyle/>
          <a:p>
            <a:pPr indent="0" marL="0">
              <a:buNone/>
            </a:pPr>
            <a:r>
              <a:rPr lang="en-US" sz="1250" b="1" dirty="0">
                <a:solidFill>
                  <a:srgbClr val="1E2A24"/>
                </a:solidFill>
                <a:latin typeface="Calibri" pitchFamily="34" charset="0"/>
                <a:ea typeface="Calibri" pitchFamily="34" charset="-122"/>
                <a:cs typeface="Calibri" pitchFamily="34" charset="-120"/>
              </a:rPr>
              <a:t>Observed Engagement: </a:t>
            </a:r>
            <a:pPr indent="0" marL="0">
              <a:buNone/>
            </a:pPr>
            <a:r>
              <a:rPr lang="en-US" sz="1250" dirty="0">
                <a:solidFill>
                  <a:srgbClr val="1E2A24"/>
                </a:solidFill>
                <a:latin typeface="Calibri" pitchFamily="34" charset="0"/>
                <a:ea typeface="Calibri" pitchFamily="34" charset="-122"/>
                <a:cs typeface="Calibri" pitchFamily="34" charset="-120"/>
              </a:rPr>
              <a:t>957 likes and 5 comments on your 10-minute split routine, alongside steady baseline engagement on hip mobility drills.</a:t>
            </a:r>
            <a:endParaRPr lang="en-US" sz="1250" dirty="0"/>
          </a:p>
        </p:txBody>
      </p:sp>
      <p:sp>
        <p:nvSpPr>
          <p:cNvPr id="23" name="Text 21"/>
          <p:cNvSpPr txBox="1"/>
          <p:nvPr/>
        </p:nvSpPr>
        <p:spPr>
          <a:xfrm>
            <a:off x="6621628" y="5120640"/>
            <a:ext cx="4518508" cy="914400"/>
          </a:xfrm>
          <a:prstGeom prst="rect">
            <a:avLst/>
          </a:prstGeom>
          <a:noFill/>
          <a:ln/>
        </p:spPr>
        <p:txBody>
          <a:bodyPr wrap="square" lIns="0" tIns="0" rIns="0" bIns="0" rtlCol="0" anchor="t"/>
          <a:lstStyle/>
          <a:p>
            <a:pPr indent="0" marL="0">
              <a:buNone/>
            </a:pPr>
            <a:r>
              <a:rPr lang="en-US" sz="1250" b="1" dirty="0">
                <a:solidFill>
                  <a:srgbClr val="1E2A24"/>
                </a:solidFill>
                <a:latin typeface="Calibri" pitchFamily="34" charset="0"/>
                <a:ea typeface="Calibri" pitchFamily="34" charset="-122"/>
                <a:cs typeface="Calibri" pitchFamily="34" charset="-120"/>
              </a:rPr>
              <a:t>Sales Potential: </a:t>
            </a:r>
            <a:pPr indent="0" marL="0">
              <a:buNone/>
            </a:pPr>
            <a:r>
              <a:rPr lang="en-US" sz="1250" dirty="0">
                <a:solidFill>
                  <a:srgbClr val="1E2A24"/>
                </a:solidFill>
                <a:latin typeface="Calibri" pitchFamily="34" charset="0"/>
                <a:ea typeface="Calibri" pitchFamily="34" charset="-122"/>
                <a:cs typeface="Calibri" pitchFamily="34" charset="-120"/>
              </a:rPr>
              <a:t>Medium. These routines build authority and provide instant utility, but static drills on their own lack the accountability people need to see true transformations.</a:t>
            </a:r>
            <a:endParaRPr lang="en-US" sz="1250" dirty="0"/>
          </a:p>
        </p:txBody>
      </p:sp>
      <p:sp>
        <p:nvSpPr>
          <p:cNvPr id="24" name="Text 22"/>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6B6F68"/>
                </a:solidFill>
                <a:latin typeface="Calibri" pitchFamily="34" charset="0"/>
                <a:ea typeface="Calibri" pitchFamily="34" charset="-122"/>
                <a:cs typeface="Calibri" pitchFamily="34" charset="-120"/>
              </a:rPr>
              <a:t>Monetisation Audit  ·  @lena_abuela</a:t>
            </a:r>
            <a:endParaRPr lang="en-US" sz="1000" dirty="0"/>
          </a:p>
        </p:txBody>
      </p:sp>
      <p:sp>
        <p:nvSpPr>
          <p:cNvPr id="25" name="Text 23"/>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6B6F6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24"/>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D9966B">
              <a:alpha val="10000"/>
            </a:srgbClr>
          </a:solidFill>
          <a:ln w="9525">
            <a:solidFill>
              <a:srgbClr val="D9966B">
                <a:alpha val="30000"/>
              </a:srgbClr>
            </a:solidFill>
            <a:prstDash val="solid"/>
          </a:ln>
        </p:spPr>
      </p:sp>
      <p:sp>
        <p:nvSpPr>
          <p:cNvPr id="3" name="Text 1"/>
          <p:cNvSpPr txBox="1"/>
          <p:nvPr/>
        </p:nvSpPr>
        <p:spPr>
          <a:xfrm>
            <a:off x="685800" y="1463040"/>
            <a:ext cx="5486400" cy="320040"/>
          </a:xfrm>
          <a:prstGeom prst="rect">
            <a:avLst/>
          </a:prstGeom>
          <a:noFill/>
          <a:ln/>
        </p:spPr>
        <p:txBody>
          <a:bodyPr wrap="square" lIns="0" tIns="0" rIns="0" bIns="0" rtlCol="0" anchor="t"/>
          <a:lstStyle/>
          <a:p>
            <a:pPr indent="0" marL="0">
              <a:buNone/>
            </a:pPr>
            <a:r>
              <a:rPr lang="en-US" sz="1400" b="1" spc="300" kern="0" dirty="0">
                <a:solidFill>
                  <a:srgbClr val="D9966B"/>
                </a:solidFill>
                <a:latin typeface="Calibri" pitchFamily="34" charset="0"/>
                <a:ea typeface="Calibri" pitchFamily="34" charset="-122"/>
                <a:cs typeface="Calibri" pitchFamily="34" charset="-120"/>
              </a:rPr>
              <a:t>VERDICT</a:t>
            </a:r>
            <a:endParaRPr lang="en-US" sz="1400" dirty="0"/>
          </a:p>
        </p:txBody>
      </p:sp>
      <p:sp>
        <p:nvSpPr>
          <p:cNvPr id="4" name="Text 2"/>
          <p:cNvSpPr txBox="1"/>
          <p:nvPr/>
        </p:nvSpPr>
        <p:spPr>
          <a:xfrm>
            <a:off x="685800" y="1965960"/>
            <a:ext cx="9875520" cy="3291840"/>
          </a:xfrm>
          <a:prstGeom prst="rect">
            <a:avLst/>
          </a:prstGeom>
          <a:noFill/>
          <a:ln/>
        </p:spPr>
        <p:txBody>
          <a:bodyPr wrap="square" lIns="0" tIns="0" rIns="0" bIns="0" rtlCol="0" anchor="t"/>
          <a:lstStyle/>
          <a:p>
            <a:pPr indent="0" marL="0">
              <a:lnSpc>
                <a:spcPct val="115000"/>
              </a:lnSpc>
              <a:buNone/>
            </a:pPr>
            <a:r>
              <a:rPr lang="en-US" sz="2800" dirty="0">
                <a:solidFill>
                  <a:srgbClr val="FFFFFF"/>
                </a:solidFill>
                <a:latin typeface="Cambria" pitchFamily="34" charset="0"/>
                <a:ea typeface="Cambria" pitchFamily="34" charset="-122"/>
                <a:cs typeface="Cambria" pitchFamily="34" charset="-120"/>
              </a:rPr>
              <a:t>The massive engagement on your nervous system breakdown proves that your audience is tired of copying generic stretches. There is clear, pent-up demand for a structured, guided coaching system designed around how the body actually creates lasting flexibility.</a:t>
            </a:r>
            <a:endParaRPr lang="en-US" sz="2800" dirty="0"/>
          </a:p>
        </p:txBody>
      </p:sp>
      <p:sp>
        <p:nvSpPr>
          <p:cNvPr id="5" name="Text 3"/>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A9B5AD"/>
                </a:solidFill>
                <a:latin typeface="Calibri" pitchFamily="34" charset="0"/>
                <a:ea typeface="Calibri" pitchFamily="34" charset="-122"/>
                <a:cs typeface="Calibri" pitchFamily="34" charset="-120"/>
              </a:rPr>
              <a:t>Monetisation Audit  ·  @lena_abuela</a:t>
            </a:r>
            <a:endParaRPr lang="en-US" sz="1000" dirty="0"/>
          </a:p>
        </p:txBody>
      </p:sp>
      <p:sp>
        <p:nvSpPr>
          <p:cNvPr id="6" name="Text 4"/>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A9B5AD"/>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SECTION 03</a:t>
            </a:r>
            <a:endParaRPr lang="en-US" sz="1200" dirty="0"/>
          </a:p>
        </p:txBody>
      </p:sp>
      <p:sp>
        <p:nvSpPr>
          <p:cNvPr id="3" name="Text 1"/>
          <p:cNvSpPr txBox="1"/>
          <p:nvPr/>
        </p:nvSpPr>
        <p:spPr>
          <a:xfrm>
            <a:off x="685800" y="749808"/>
            <a:ext cx="10820095" cy="731520"/>
          </a:xfrm>
          <a:prstGeom prst="rect">
            <a:avLst/>
          </a:prstGeom>
          <a:noFill/>
          <a:ln/>
        </p:spPr>
        <p:txBody>
          <a:bodyPr wrap="square" lIns="0" tIns="0" rIns="0" bIns="0" rtlCol="0" anchor="t"/>
          <a:lstStyle/>
          <a:p>
            <a:pPr indent="0" marL="0">
              <a:buNone/>
            </a:pPr>
            <a:r>
              <a:rPr lang="en-US" sz="3200" b="1" dirty="0">
                <a:solidFill>
                  <a:srgbClr val="1E2A24"/>
                </a:solidFill>
                <a:latin typeface="Cambria" pitchFamily="34" charset="0"/>
                <a:ea typeface="Cambria" pitchFamily="34" charset="-122"/>
                <a:cs typeface="Cambria" pitchFamily="34" charset="-120"/>
              </a:rPr>
              <a:t>The Numbers (Your Audience Value)</a:t>
            </a:r>
            <a:endParaRPr lang="en-US" sz="3200" dirty="0"/>
          </a:p>
        </p:txBody>
      </p:sp>
      <p:sp>
        <p:nvSpPr>
          <p:cNvPr id="4" name="Text 2"/>
          <p:cNvSpPr txBox="1"/>
          <p:nvPr/>
        </p:nvSpPr>
        <p:spPr>
          <a:xfrm>
            <a:off x="685800" y="1417320"/>
            <a:ext cx="10820095" cy="320040"/>
          </a:xfrm>
          <a:prstGeom prst="rect">
            <a:avLst/>
          </a:prstGeom>
          <a:noFill/>
          <a:ln/>
        </p:spPr>
        <p:txBody>
          <a:bodyPr wrap="square" lIns="0" tIns="0" rIns="0" bIns="0" rtlCol="0" anchor="t"/>
          <a:lstStyle/>
          <a:p>
            <a:pPr indent="0" marL="0">
              <a:buNone/>
            </a:pPr>
            <a:r>
              <a:rPr lang="en-US" sz="1500" i="1" dirty="0">
                <a:solidFill>
                  <a:srgbClr val="6B6F68"/>
                </a:solidFill>
                <a:latin typeface="Calibri" pitchFamily="34" charset="0"/>
                <a:ea typeface="Calibri" pitchFamily="34" charset="-122"/>
                <a:cs typeface="Calibri" pitchFamily="34" charset="-120"/>
              </a:rPr>
              <a:t>Here is how much your audience is potentially worth, based on conservative market metrics:</a:t>
            </a:r>
            <a:endParaRPr lang="en-US" sz="1500" dirty="0"/>
          </a:p>
        </p:txBody>
      </p:sp>
      <p:sp>
        <p:nvSpPr>
          <p:cNvPr id="5" name="Text 3"/>
          <p:cNvSpPr txBox="1"/>
          <p:nvPr/>
        </p:nvSpPr>
        <p:spPr>
          <a:xfrm>
            <a:off x="685800" y="1965960"/>
            <a:ext cx="5486400"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THE REVENUE POTENTIAL</a:t>
            </a:r>
            <a:endParaRPr lang="en-US" sz="1200" dirty="0"/>
          </a:p>
        </p:txBody>
      </p:sp>
      <p:sp>
        <p:nvSpPr>
          <p:cNvPr id="6" name="Text 4"/>
          <p:cNvSpPr txBox="1"/>
          <p:nvPr/>
        </p:nvSpPr>
        <p:spPr>
          <a:xfrm>
            <a:off x="685800" y="2240280"/>
            <a:ext cx="10820095" cy="320040"/>
          </a:xfrm>
          <a:prstGeom prst="rect">
            <a:avLst/>
          </a:prstGeom>
          <a:noFill/>
          <a:ln/>
        </p:spPr>
        <p:txBody>
          <a:bodyPr wrap="square" lIns="0" tIns="0" rIns="0" bIns="0" rtlCol="0" anchor="t"/>
          <a:lstStyle/>
          <a:p>
            <a:pPr indent="0" marL="0">
              <a:buNone/>
            </a:pPr>
            <a:r>
              <a:rPr lang="en-US" sz="1400" dirty="0">
                <a:solidFill>
                  <a:srgbClr val="1E2A24"/>
                </a:solidFill>
                <a:latin typeface="Calibri" pitchFamily="34" charset="0"/>
                <a:ea typeface="Calibri" pitchFamily="34" charset="-122"/>
                <a:cs typeface="Calibri" pitchFamily="34" charset="-120"/>
              </a:rPr>
              <a:t>For your audience, the right structure is a premium, limited-spots offer — a restricted group with direct access to you:</a:t>
            </a:r>
            <a:endParaRPr lang="en-US" sz="1400" dirty="0"/>
          </a:p>
        </p:txBody>
      </p:sp>
      <p:sp>
        <p:nvSpPr>
          <p:cNvPr id="7" name="Shape 5"/>
          <p:cNvSpPr/>
          <p:nvPr/>
        </p:nvSpPr>
        <p:spPr>
          <a:xfrm>
            <a:off x="685800" y="2788920"/>
            <a:ext cx="2499284" cy="1463040"/>
          </a:xfrm>
          <a:prstGeom prst="roundRect">
            <a:avLst>
              <a:gd name="adj" fmla="val 5000"/>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8" name="Text 6"/>
          <p:cNvSpPr txBox="1"/>
          <p:nvPr/>
        </p:nvSpPr>
        <p:spPr>
          <a:xfrm>
            <a:off x="960120" y="3017520"/>
            <a:ext cx="1950644" cy="640080"/>
          </a:xfrm>
          <a:prstGeom prst="rect">
            <a:avLst/>
          </a:prstGeom>
          <a:noFill/>
          <a:ln/>
        </p:spPr>
        <p:txBody>
          <a:bodyPr wrap="square" lIns="0" tIns="0" rIns="0" bIns="0" rtlCol="0" anchor="t"/>
          <a:lstStyle/>
          <a:p>
            <a:pPr indent="0" marL="0">
              <a:buNone/>
            </a:pPr>
            <a:r>
              <a:rPr lang="en-US" sz="3400" b="1" dirty="0">
                <a:solidFill>
                  <a:srgbClr val="B86F42"/>
                </a:solidFill>
                <a:latin typeface="Cambria" pitchFamily="34" charset="0"/>
                <a:ea typeface="Cambria" pitchFamily="34" charset="-122"/>
                <a:cs typeface="Cambria" pitchFamily="34" charset="-120"/>
              </a:rPr>
              <a:t>15,015</a:t>
            </a:r>
            <a:endParaRPr lang="en-US" sz="3400" dirty="0"/>
          </a:p>
        </p:txBody>
      </p:sp>
      <p:sp>
        <p:nvSpPr>
          <p:cNvPr id="9" name="Text 7"/>
          <p:cNvSpPr txBox="1"/>
          <p:nvPr/>
        </p:nvSpPr>
        <p:spPr>
          <a:xfrm>
            <a:off x="960120" y="3685032"/>
            <a:ext cx="1950644" cy="45720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Follower Base</a:t>
            </a:r>
            <a:endParaRPr lang="en-US" sz="1250" dirty="0"/>
          </a:p>
        </p:txBody>
      </p:sp>
      <p:sp>
        <p:nvSpPr>
          <p:cNvPr id="10" name="Shape 8"/>
          <p:cNvSpPr/>
          <p:nvPr/>
        </p:nvSpPr>
        <p:spPr>
          <a:xfrm>
            <a:off x="3459404" y="2788920"/>
            <a:ext cx="2499284" cy="1463040"/>
          </a:xfrm>
          <a:prstGeom prst="roundRect">
            <a:avLst>
              <a:gd name="adj" fmla="val 5000"/>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11" name="Text 9"/>
          <p:cNvSpPr txBox="1"/>
          <p:nvPr/>
        </p:nvSpPr>
        <p:spPr>
          <a:xfrm>
            <a:off x="3733724" y="3017520"/>
            <a:ext cx="1950644" cy="640080"/>
          </a:xfrm>
          <a:prstGeom prst="rect">
            <a:avLst/>
          </a:prstGeom>
          <a:noFill/>
          <a:ln/>
        </p:spPr>
        <p:txBody>
          <a:bodyPr wrap="square" lIns="0" tIns="0" rIns="0" bIns="0" rtlCol="0" anchor="t"/>
          <a:lstStyle/>
          <a:p>
            <a:pPr indent="0" marL="0">
              <a:buNone/>
            </a:pPr>
            <a:r>
              <a:rPr lang="en-US" sz="3400" b="1" dirty="0">
                <a:solidFill>
                  <a:srgbClr val="B86F42"/>
                </a:solidFill>
                <a:latin typeface="Cambria" pitchFamily="34" charset="0"/>
                <a:ea typeface="Cambria" pitchFamily="34" charset="-122"/>
                <a:cs typeface="Cambria" pitchFamily="34" charset="-120"/>
              </a:rPr>
              <a:t>751</a:t>
            </a:r>
            <a:endParaRPr lang="en-US" sz="3400" dirty="0"/>
          </a:p>
        </p:txBody>
      </p:sp>
      <p:sp>
        <p:nvSpPr>
          <p:cNvPr id="12" name="Text 10"/>
          <p:cNvSpPr txBox="1"/>
          <p:nvPr/>
        </p:nvSpPr>
        <p:spPr>
          <a:xfrm>
            <a:off x="3733724" y="3685032"/>
            <a:ext cx="1950644" cy="45720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Engaged Audience (5% market premise)</a:t>
            </a:r>
            <a:endParaRPr lang="en-US" sz="1250" dirty="0"/>
          </a:p>
        </p:txBody>
      </p:sp>
      <p:sp>
        <p:nvSpPr>
          <p:cNvPr id="13" name="Shape 11"/>
          <p:cNvSpPr/>
          <p:nvPr/>
        </p:nvSpPr>
        <p:spPr>
          <a:xfrm>
            <a:off x="6233008" y="2788920"/>
            <a:ext cx="2499284" cy="1463040"/>
          </a:xfrm>
          <a:prstGeom prst="roundRect">
            <a:avLst>
              <a:gd name="adj" fmla="val 5000"/>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14" name="Text 12"/>
          <p:cNvSpPr txBox="1"/>
          <p:nvPr/>
        </p:nvSpPr>
        <p:spPr>
          <a:xfrm>
            <a:off x="6507328" y="3017520"/>
            <a:ext cx="1950644" cy="640080"/>
          </a:xfrm>
          <a:prstGeom prst="rect">
            <a:avLst/>
          </a:prstGeom>
          <a:noFill/>
          <a:ln/>
        </p:spPr>
        <p:txBody>
          <a:bodyPr wrap="square" lIns="0" tIns="0" rIns="0" bIns="0" rtlCol="0" anchor="t"/>
          <a:lstStyle/>
          <a:p>
            <a:pPr indent="0" marL="0">
              <a:buNone/>
            </a:pPr>
            <a:r>
              <a:rPr lang="en-US" sz="3400" b="1" dirty="0">
                <a:solidFill>
                  <a:srgbClr val="B86F42"/>
                </a:solidFill>
                <a:latin typeface="Cambria" pitchFamily="34" charset="0"/>
                <a:ea typeface="Cambria" pitchFamily="34" charset="-122"/>
                <a:cs typeface="Cambria" pitchFamily="34" charset="-120"/>
              </a:rPr>
              <a:t>20</a:t>
            </a:r>
            <a:endParaRPr lang="en-US" sz="3400" dirty="0"/>
          </a:p>
        </p:txBody>
      </p:sp>
      <p:sp>
        <p:nvSpPr>
          <p:cNvPr id="15" name="Text 13"/>
          <p:cNvSpPr txBox="1"/>
          <p:nvPr/>
        </p:nvSpPr>
        <p:spPr>
          <a:xfrm>
            <a:off x="6507328" y="3685032"/>
            <a:ext cx="1950644" cy="45720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Program Spots (deliberately limited)</a:t>
            </a:r>
            <a:endParaRPr lang="en-US" sz="1250" dirty="0"/>
          </a:p>
        </p:txBody>
      </p:sp>
      <p:sp>
        <p:nvSpPr>
          <p:cNvPr id="16" name="Shape 14"/>
          <p:cNvSpPr/>
          <p:nvPr/>
        </p:nvSpPr>
        <p:spPr>
          <a:xfrm>
            <a:off x="9006611" y="2788920"/>
            <a:ext cx="2499284" cy="1463040"/>
          </a:xfrm>
          <a:prstGeom prst="roundRect">
            <a:avLst>
              <a:gd name="adj" fmla="val 5000"/>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17" name="Text 15"/>
          <p:cNvSpPr txBox="1"/>
          <p:nvPr/>
        </p:nvSpPr>
        <p:spPr>
          <a:xfrm>
            <a:off x="9280931" y="3017520"/>
            <a:ext cx="1950644" cy="640080"/>
          </a:xfrm>
          <a:prstGeom prst="rect">
            <a:avLst/>
          </a:prstGeom>
          <a:noFill/>
          <a:ln/>
        </p:spPr>
        <p:txBody>
          <a:bodyPr wrap="square" lIns="0" tIns="0" rIns="0" bIns="0" rtlCol="0" anchor="t"/>
          <a:lstStyle/>
          <a:p>
            <a:pPr indent="0" marL="0">
              <a:buNone/>
            </a:pPr>
            <a:r>
              <a:rPr lang="en-US" sz="3400" b="1" dirty="0">
                <a:solidFill>
                  <a:srgbClr val="B86F42"/>
                </a:solidFill>
                <a:latin typeface="Cambria" pitchFamily="34" charset="0"/>
                <a:ea typeface="Cambria" pitchFamily="34" charset="-122"/>
                <a:cs typeface="Cambria" pitchFamily="34" charset="-120"/>
              </a:rPr>
              <a:t>$1,500</a:t>
            </a:r>
            <a:endParaRPr lang="en-US" sz="3400" dirty="0"/>
          </a:p>
        </p:txBody>
      </p:sp>
      <p:sp>
        <p:nvSpPr>
          <p:cNvPr id="18" name="Text 16"/>
          <p:cNvSpPr txBox="1"/>
          <p:nvPr/>
        </p:nvSpPr>
        <p:spPr>
          <a:xfrm>
            <a:off x="9280931" y="3685032"/>
            <a:ext cx="1950644" cy="45720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Product Price</a:t>
            </a:r>
            <a:endParaRPr lang="en-US" sz="1250" dirty="0"/>
          </a:p>
        </p:txBody>
      </p:sp>
      <p:sp>
        <p:nvSpPr>
          <p:cNvPr id="19" name="Shape 17"/>
          <p:cNvSpPr/>
          <p:nvPr/>
        </p:nvSpPr>
        <p:spPr>
          <a:xfrm>
            <a:off x="685800" y="4526280"/>
            <a:ext cx="10820095" cy="1600200"/>
          </a:xfrm>
          <a:prstGeom prst="roundRect">
            <a:avLst>
              <a:gd name="adj" fmla="val 4571"/>
            </a:avLst>
          </a:prstGeom>
          <a:solidFill>
            <a:srgbClr val="2A3830"/>
          </a:solidFill>
          <a:ln w="6350">
            <a:solidFill>
              <a:srgbClr val="2A3830"/>
            </a:solidFill>
            <a:prstDash val="solid"/>
          </a:ln>
          <a:effectLst>
            <a:outerShdw sx="100000" sy="100000" kx="0" ky="0" algn="bl" rotWithShape="0" blurRad="127000" dist="25400" dir="5400000">
              <a:srgbClr val="000000">
                <a:alpha val="8000"/>
              </a:srgbClr>
            </a:outerShdw>
          </a:effectLst>
        </p:spPr>
      </p:sp>
      <p:sp>
        <p:nvSpPr>
          <p:cNvPr id="20" name="Text 18"/>
          <p:cNvSpPr txBox="1"/>
          <p:nvPr/>
        </p:nvSpPr>
        <p:spPr>
          <a:xfrm>
            <a:off x="1097280" y="4800600"/>
            <a:ext cx="3200400" cy="274320"/>
          </a:xfrm>
          <a:prstGeom prst="rect">
            <a:avLst/>
          </a:prstGeom>
          <a:noFill/>
          <a:ln/>
        </p:spPr>
        <p:txBody>
          <a:bodyPr wrap="square" lIns="0" tIns="0" rIns="0" bIns="0" rtlCol="0" anchor="t"/>
          <a:lstStyle/>
          <a:p>
            <a:pPr indent="0" marL="0">
              <a:buNone/>
            </a:pPr>
            <a:r>
              <a:rPr lang="en-US" sz="1200" b="1" spc="200" kern="0" dirty="0">
                <a:solidFill>
                  <a:srgbClr val="D9966B"/>
                </a:solidFill>
                <a:latin typeface="Calibri" pitchFamily="34" charset="0"/>
                <a:ea typeface="Calibri" pitchFamily="34" charset="-122"/>
                <a:cs typeface="Calibri" pitchFamily="34" charset="-120"/>
              </a:rPr>
              <a:t>THE MATH:</a:t>
            </a:r>
            <a:endParaRPr lang="en-US" sz="1200" dirty="0"/>
          </a:p>
        </p:txBody>
      </p:sp>
      <p:sp>
        <p:nvSpPr>
          <p:cNvPr id="21" name="Text 19"/>
          <p:cNvSpPr txBox="1"/>
          <p:nvPr/>
        </p:nvSpPr>
        <p:spPr>
          <a:xfrm>
            <a:off x="1097280" y="5120640"/>
            <a:ext cx="4754880" cy="4572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20 spots × $1,500 = $30,000</a:t>
            </a:r>
            <a:endParaRPr lang="en-US" sz="2400" dirty="0"/>
          </a:p>
        </p:txBody>
      </p:sp>
      <p:sp>
        <p:nvSpPr>
          <p:cNvPr id="22" name="Text 20"/>
          <p:cNvSpPr txBox="1"/>
          <p:nvPr/>
        </p:nvSpPr>
        <p:spPr>
          <a:xfrm>
            <a:off x="1097280" y="5577840"/>
            <a:ext cx="5760720" cy="457200"/>
          </a:xfrm>
          <a:prstGeom prst="rect">
            <a:avLst/>
          </a:prstGeom>
          <a:noFill/>
          <a:ln/>
        </p:spPr>
        <p:txBody>
          <a:bodyPr wrap="square" lIns="0" tIns="0" rIns="0" bIns="0" rtlCol="0" anchor="t"/>
          <a:lstStyle/>
          <a:p>
            <a:pPr indent="0" marL="0">
              <a:buNone/>
            </a:pPr>
            <a:r>
              <a:rPr lang="en-US" sz="1250" dirty="0">
                <a:solidFill>
                  <a:srgbClr val="A9B5AD"/>
                </a:solidFill>
                <a:latin typeface="Calibri" pitchFamily="34" charset="0"/>
                <a:ea typeface="Calibri" pitchFamily="34" charset="-122"/>
                <a:cs typeface="Calibri" pitchFamily="34" charset="-120"/>
              </a:rPr>
              <a:t>Based on these numbers, a single well-positioned premium program with 20 spots represents a Revenue Potential of $30,000 per cohort.</a:t>
            </a:r>
            <a:endParaRPr lang="en-US" sz="1250" dirty="0"/>
          </a:p>
        </p:txBody>
      </p:sp>
      <p:sp>
        <p:nvSpPr>
          <p:cNvPr id="23" name="Text 21"/>
          <p:cNvSpPr txBox="1"/>
          <p:nvPr/>
        </p:nvSpPr>
        <p:spPr>
          <a:xfrm>
            <a:off x="7360920" y="4800600"/>
            <a:ext cx="3657600" cy="274320"/>
          </a:xfrm>
          <a:prstGeom prst="rect">
            <a:avLst/>
          </a:prstGeom>
          <a:noFill/>
          <a:ln/>
        </p:spPr>
        <p:txBody>
          <a:bodyPr wrap="square" lIns="0" tIns="0" rIns="0" bIns="0" rtlCol="0" anchor="t"/>
          <a:lstStyle/>
          <a:p>
            <a:pPr algn="r" indent="0" marL="0">
              <a:buNone/>
            </a:pPr>
            <a:r>
              <a:rPr lang="en-US" sz="1200" b="1" spc="200" kern="0" dirty="0">
                <a:solidFill>
                  <a:srgbClr val="D9966B"/>
                </a:solidFill>
                <a:latin typeface="Calibri" pitchFamily="34" charset="0"/>
                <a:ea typeface="Calibri" pitchFamily="34" charset="-122"/>
                <a:cs typeface="Calibri" pitchFamily="34" charset="-120"/>
              </a:rPr>
              <a:t>REVENUE POTENTIAL:</a:t>
            </a:r>
            <a:endParaRPr lang="en-US" sz="1200" dirty="0"/>
          </a:p>
        </p:txBody>
      </p:sp>
      <p:sp>
        <p:nvSpPr>
          <p:cNvPr id="24" name="Text 22"/>
          <p:cNvSpPr txBox="1"/>
          <p:nvPr/>
        </p:nvSpPr>
        <p:spPr>
          <a:xfrm>
            <a:off x="6446520" y="5074920"/>
            <a:ext cx="4572000" cy="914400"/>
          </a:xfrm>
          <a:prstGeom prst="rect">
            <a:avLst/>
          </a:prstGeom>
          <a:noFill/>
          <a:ln/>
        </p:spPr>
        <p:txBody>
          <a:bodyPr wrap="square" lIns="0" tIns="0" rIns="0" bIns="0" rtlCol="0" anchor="t"/>
          <a:lstStyle/>
          <a:p>
            <a:pPr algn="r" indent="0" marL="0">
              <a:buNone/>
            </a:pPr>
            <a:r>
              <a:rPr lang="en-US" sz="5400" b="1" dirty="0">
                <a:solidFill>
                  <a:srgbClr val="D9966B"/>
                </a:solidFill>
                <a:latin typeface="Cambria" pitchFamily="34" charset="0"/>
                <a:ea typeface="Cambria" pitchFamily="34" charset="-122"/>
                <a:cs typeface="Cambria" pitchFamily="34" charset="-120"/>
              </a:rPr>
              <a:t>$30,000</a:t>
            </a:r>
            <a:endParaRPr lang="en-US" sz="5400" dirty="0"/>
          </a:p>
        </p:txBody>
      </p:sp>
      <p:sp>
        <p:nvSpPr>
          <p:cNvPr id="25" name="Text 23"/>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6B6F68"/>
                </a:solidFill>
                <a:latin typeface="Calibri" pitchFamily="34" charset="0"/>
                <a:ea typeface="Calibri" pitchFamily="34" charset="-122"/>
                <a:cs typeface="Calibri" pitchFamily="34" charset="-120"/>
              </a:rPr>
              <a:t>Monetisation Audit  ·  @lena_abuela</a:t>
            </a:r>
            <a:endParaRPr lang="en-US" sz="1000" dirty="0"/>
          </a:p>
        </p:txBody>
      </p:sp>
      <p:sp>
        <p:nvSpPr>
          <p:cNvPr id="26" name="Text 24"/>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6B6F6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SECTION 04</a:t>
            </a:r>
            <a:endParaRPr lang="en-US" sz="1200" dirty="0"/>
          </a:p>
        </p:txBody>
      </p:sp>
      <p:sp>
        <p:nvSpPr>
          <p:cNvPr id="3" name="Text 1"/>
          <p:cNvSpPr txBox="1"/>
          <p:nvPr/>
        </p:nvSpPr>
        <p:spPr>
          <a:xfrm>
            <a:off x="685800" y="749808"/>
            <a:ext cx="10820095" cy="731520"/>
          </a:xfrm>
          <a:prstGeom prst="rect">
            <a:avLst/>
          </a:prstGeom>
          <a:noFill/>
          <a:ln/>
        </p:spPr>
        <p:txBody>
          <a:bodyPr wrap="square" lIns="0" tIns="0" rIns="0" bIns="0" rtlCol="0" anchor="t"/>
          <a:lstStyle/>
          <a:p>
            <a:pPr indent="0" marL="0">
              <a:buNone/>
            </a:pPr>
            <a:r>
              <a:rPr lang="en-US" sz="3200" b="1" dirty="0">
                <a:solidFill>
                  <a:srgbClr val="1E2A24"/>
                </a:solidFill>
                <a:latin typeface="Cambria" pitchFamily="34" charset="0"/>
                <a:ea typeface="Cambria" pitchFamily="34" charset="-122"/>
                <a:cs typeface="Cambria" pitchFamily="34" charset="-120"/>
              </a:rPr>
              <a:t>Product Suggestions</a:t>
            </a:r>
            <a:endParaRPr lang="en-US" sz="3200" dirty="0"/>
          </a:p>
        </p:txBody>
      </p:sp>
      <p:sp>
        <p:nvSpPr>
          <p:cNvPr id="4" name="Text 2"/>
          <p:cNvSpPr txBox="1"/>
          <p:nvPr/>
        </p:nvSpPr>
        <p:spPr>
          <a:xfrm>
            <a:off x="685800" y="1417320"/>
            <a:ext cx="10820095" cy="320040"/>
          </a:xfrm>
          <a:prstGeom prst="rect">
            <a:avLst/>
          </a:prstGeom>
          <a:noFill/>
          <a:ln/>
        </p:spPr>
        <p:txBody>
          <a:bodyPr wrap="square" lIns="0" tIns="0" rIns="0" bIns="0" rtlCol="0" anchor="t"/>
          <a:lstStyle/>
          <a:p>
            <a:pPr indent="0" marL="0">
              <a:buNone/>
            </a:pPr>
            <a:r>
              <a:rPr lang="en-US" sz="1500" i="1" dirty="0">
                <a:solidFill>
                  <a:srgbClr val="6B6F68"/>
                </a:solidFill>
                <a:latin typeface="Calibri" pitchFamily="34" charset="0"/>
                <a:ea typeface="Calibri" pitchFamily="34" charset="-122"/>
                <a:cs typeface="Calibri" pitchFamily="34" charset="-120"/>
              </a:rPr>
              <a:t>Crossing what your content demonstrates with what your audience shows it wants, here are 3 profitable paths:</a:t>
            </a:r>
            <a:endParaRPr lang="en-US" sz="1500" dirty="0"/>
          </a:p>
        </p:txBody>
      </p:sp>
      <p:sp>
        <p:nvSpPr>
          <p:cNvPr id="5" name="Shape 3"/>
          <p:cNvSpPr/>
          <p:nvPr/>
        </p:nvSpPr>
        <p:spPr>
          <a:xfrm>
            <a:off x="685800" y="1965960"/>
            <a:ext cx="10820095" cy="4160520"/>
          </a:xfrm>
          <a:prstGeom prst="roundRect">
            <a:avLst>
              <a:gd name="adj" fmla="val 1758"/>
            </a:avLst>
          </a:prstGeom>
          <a:solidFill>
            <a:srgbClr val="2A3830"/>
          </a:solidFill>
          <a:ln w="6350">
            <a:solidFill>
              <a:srgbClr val="2A3830"/>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1097280" y="2331720"/>
            <a:ext cx="2286000" cy="292608"/>
          </a:xfrm>
          <a:prstGeom prst="roundRect">
            <a:avLst>
              <a:gd name="adj" fmla="val 50000"/>
            </a:avLst>
          </a:prstGeom>
          <a:solidFill>
            <a:srgbClr val="D9966B"/>
          </a:solidFill>
          <a:ln w="6350">
            <a:solidFill>
              <a:srgbClr val="D9966B"/>
            </a:solidFill>
            <a:prstDash val="solid"/>
          </a:ln>
        </p:spPr>
      </p:sp>
      <p:sp>
        <p:nvSpPr>
          <p:cNvPr id="7" name="Text 5"/>
          <p:cNvSpPr txBox="1"/>
          <p:nvPr/>
        </p:nvSpPr>
        <p:spPr>
          <a:xfrm>
            <a:off x="1097280" y="2331720"/>
            <a:ext cx="2286000" cy="292608"/>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OPTION 1  ·  THE BIG BET</a:t>
            </a:r>
            <a:endParaRPr lang="en-US" sz="1050" dirty="0"/>
          </a:p>
        </p:txBody>
      </p:sp>
      <p:sp>
        <p:nvSpPr>
          <p:cNvPr id="8" name="Text 6"/>
          <p:cNvSpPr txBox="1"/>
          <p:nvPr/>
        </p:nvSpPr>
        <p:spPr>
          <a:xfrm>
            <a:off x="1097280" y="2788920"/>
            <a:ext cx="9997135"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Neuromobility Accelerator</a:t>
            </a:r>
            <a:endParaRPr lang="en-US" sz="3000" dirty="0"/>
          </a:p>
        </p:txBody>
      </p:sp>
      <p:sp>
        <p:nvSpPr>
          <p:cNvPr id="9" name="Text 7"/>
          <p:cNvSpPr txBox="1"/>
          <p:nvPr/>
        </p:nvSpPr>
        <p:spPr>
          <a:xfrm>
            <a:off x="1097280" y="3611880"/>
            <a:ext cx="2103120" cy="731520"/>
          </a:xfrm>
          <a:prstGeom prst="rect">
            <a:avLst/>
          </a:prstGeom>
          <a:noFill/>
          <a:ln/>
        </p:spPr>
        <p:txBody>
          <a:bodyPr wrap="square" lIns="0" tIns="0" rIns="0" bIns="0" rtlCol="0" anchor="t"/>
          <a:lstStyle/>
          <a:p>
            <a:pPr indent="0" marL="0">
              <a:buNone/>
            </a:pPr>
            <a:r>
              <a:rPr lang="en-US" sz="1350" b="1" dirty="0">
                <a:solidFill>
                  <a:srgbClr val="D9966B"/>
                </a:solidFill>
                <a:latin typeface="Calibri" pitchFamily="34" charset="0"/>
                <a:ea typeface="Calibri" pitchFamily="34" charset="-122"/>
                <a:cs typeface="Calibri" pitchFamily="34" charset="-120"/>
              </a:rPr>
              <a:t>What It Is:</a:t>
            </a:r>
            <a:endParaRPr lang="en-US" sz="1350" dirty="0"/>
          </a:p>
        </p:txBody>
      </p:sp>
      <p:sp>
        <p:nvSpPr>
          <p:cNvPr id="10" name="Text 8"/>
          <p:cNvSpPr txBox="1"/>
          <p:nvPr/>
        </p:nvSpPr>
        <p:spPr>
          <a:xfrm>
            <a:off x="3246120" y="3611880"/>
            <a:ext cx="7848295"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 12-week premium group coaching mentorship. Combines weekly live Zoom sessions, personalized training plans, and direct video analysis where you break down each client's form and recalibrate their nervous system for deep range.</a:t>
            </a:r>
            <a:endParaRPr lang="en-US" sz="1350" dirty="0"/>
          </a:p>
        </p:txBody>
      </p:sp>
      <p:sp>
        <p:nvSpPr>
          <p:cNvPr id="11" name="Text 9"/>
          <p:cNvSpPr txBox="1"/>
          <p:nvPr/>
        </p:nvSpPr>
        <p:spPr>
          <a:xfrm>
            <a:off x="1097280" y="4416552"/>
            <a:ext cx="2103120" cy="731520"/>
          </a:xfrm>
          <a:prstGeom prst="rect">
            <a:avLst/>
          </a:prstGeom>
          <a:noFill/>
          <a:ln/>
        </p:spPr>
        <p:txBody>
          <a:bodyPr wrap="square" lIns="0" tIns="0" rIns="0" bIns="0" rtlCol="0" anchor="t"/>
          <a:lstStyle/>
          <a:p>
            <a:pPr indent="0" marL="0">
              <a:buNone/>
            </a:pPr>
            <a:r>
              <a:rPr lang="en-US" sz="1350" b="1" dirty="0">
                <a:solidFill>
                  <a:srgbClr val="D9966B"/>
                </a:solidFill>
                <a:latin typeface="Calibri" pitchFamily="34" charset="0"/>
                <a:ea typeface="Calibri" pitchFamily="34" charset="-122"/>
                <a:cs typeface="Calibri" pitchFamily="34" charset="-120"/>
              </a:rPr>
              <a:t>For Whom:</a:t>
            </a:r>
            <a:endParaRPr lang="en-US" sz="1350" dirty="0"/>
          </a:p>
        </p:txBody>
      </p:sp>
      <p:sp>
        <p:nvSpPr>
          <p:cNvPr id="12" name="Text 10"/>
          <p:cNvSpPr txBox="1"/>
          <p:nvPr/>
        </p:nvSpPr>
        <p:spPr>
          <a:xfrm>
            <a:off x="3246120" y="4416552"/>
            <a:ext cx="7848295"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Adults aged 25–45 who have spent months or years attempting splits or deep hip openers, only to end up with sore hamstrings, pinching hip flexors, or zero progress.</a:t>
            </a:r>
            <a:endParaRPr lang="en-US" sz="1350" dirty="0"/>
          </a:p>
        </p:txBody>
      </p:sp>
      <p:sp>
        <p:nvSpPr>
          <p:cNvPr id="13" name="Text 11"/>
          <p:cNvSpPr txBox="1"/>
          <p:nvPr/>
        </p:nvSpPr>
        <p:spPr>
          <a:xfrm>
            <a:off x="1097280" y="5221224"/>
            <a:ext cx="2103120" cy="731520"/>
          </a:xfrm>
          <a:prstGeom prst="rect">
            <a:avLst/>
          </a:prstGeom>
          <a:noFill/>
          <a:ln/>
        </p:spPr>
        <p:txBody>
          <a:bodyPr wrap="square" lIns="0" tIns="0" rIns="0" bIns="0" rtlCol="0" anchor="t"/>
          <a:lstStyle/>
          <a:p>
            <a:pPr indent="0" marL="0">
              <a:buNone/>
            </a:pPr>
            <a:r>
              <a:rPr lang="en-US" sz="1350" b="1" dirty="0">
                <a:solidFill>
                  <a:srgbClr val="D9966B"/>
                </a:solidFill>
                <a:latin typeface="Calibri" pitchFamily="34" charset="0"/>
                <a:ea typeface="Calibri" pitchFamily="34" charset="-122"/>
                <a:cs typeface="Calibri" pitchFamily="34" charset="-120"/>
              </a:rPr>
              <a:t>Why It Will Sell:</a:t>
            </a:r>
            <a:endParaRPr lang="en-US" sz="1350" dirty="0"/>
          </a:p>
        </p:txBody>
      </p:sp>
      <p:sp>
        <p:nvSpPr>
          <p:cNvPr id="14" name="Text 12"/>
          <p:cNvSpPr txBox="1"/>
          <p:nvPr/>
        </p:nvSpPr>
        <p:spPr>
          <a:xfrm>
            <a:off x="3246120" y="5221224"/>
            <a:ext cx="7848295"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Solves the primary barrier highlighted in your content: people cannot force flexibility without custom adjustments and external video feedback to confirm they are safe.</a:t>
            </a:r>
            <a:endParaRPr lang="en-US" sz="1350" dirty="0"/>
          </a:p>
        </p:txBody>
      </p:sp>
      <p:sp>
        <p:nvSpPr>
          <p:cNvPr id="15" name="Text 13"/>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6B6F68"/>
                </a:solidFill>
                <a:latin typeface="Calibri" pitchFamily="34" charset="0"/>
                <a:ea typeface="Calibri" pitchFamily="34" charset="-122"/>
                <a:cs typeface="Calibri" pitchFamily="34" charset="-120"/>
              </a:rPr>
              <a:t>Monetisation Audit  ·  @lena_abuela</a:t>
            </a:r>
            <a:endParaRPr lang="en-US" sz="1000" dirty="0"/>
          </a:p>
        </p:txBody>
      </p:sp>
      <p:sp>
        <p:nvSpPr>
          <p:cNvPr id="16" name="Text 14"/>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6B6F6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SECTION 04</a:t>
            </a:r>
            <a:endParaRPr lang="en-US" sz="1200" dirty="0"/>
          </a:p>
        </p:txBody>
      </p:sp>
      <p:sp>
        <p:nvSpPr>
          <p:cNvPr id="3" name="Text 1"/>
          <p:cNvSpPr txBox="1"/>
          <p:nvPr/>
        </p:nvSpPr>
        <p:spPr>
          <a:xfrm>
            <a:off x="685800" y="749808"/>
            <a:ext cx="10820095" cy="731520"/>
          </a:xfrm>
          <a:prstGeom prst="rect">
            <a:avLst/>
          </a:prstGeom>
          <a:noFill/>
          <a:ln/>
        </p:spPr>
        <p:txBody>
          <a:bodyPr wrap="square" lIns="0" tIns="0" rIns="0" bIns="0" rtlCol="0" anchor="t"/>
          <a:lstStyle/>
          <a:p>
            <a:pPr indent="0" marL="0">
              <a:buNone/>
            </a:pPr>
            <a:r>
              <a:rPr lang="en-US" sz="3200" b="1" dirty="0">
                <a:solidFill>
                  <a:srgbClr val="1E2A24"/>
                </a:solidFill>
                <a:latin typeface="Cambria" pitchFamily="34" charset="0"/>
                <a:ea typeface="Cambria" pitchFamily="34" charset="-122"/>
                <a:cs typeface="Cambria" pitchFamily="34" charset="-120"/>
              </a:rPr>
              <a:t>Product Suggestions</a:t>
            </a:r>
            <a:endParaRPr lang="en-US" sz="3200" dirty="0"/>
          </a:p>
        </p:txBody>
      </p:sp>
      <p:sp>
        <p:nvSpPr>
          <p:cNvPr id="4" name="Shape 2"/>
          <p:cNvSpPr/>
          <p:nvPr/>
        </p:nvSpPr>
        <p:spPr>
          <a:xfrm>
            <a:off x="685800" y="1691640"/>
            <a:ext cx="5250028" cy="4434840"/>
          </a:xfrm>
          <a:prstGeom prst="roundRect">
            <a:avLst>
              <a:gd name="adj" fmla="val 1649"/>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5" name="Shape 3"/>
          <p:cNvSpPr/>
          <p:nvPr/>
        </p:nvSpPr>
        <p:spPr>
          <a:xfrm>
            <a:off x="1051560" y="2057400"/>
            <a:ext cx="896112" cy="292608"/>
          </a:xfrm>
          <a:prstGeom prst="roundRect">
            <a:avLst>
              <a:gd name="adj" fmla="val 50000"/>
            </a:avLst>
          </a:prstGeom>
          <a:solidFill>
            <a:srgbClr val="B86F42"/>
          </a:solidFill>
          <a:ln w="6350">
            <a:solidFill>
              <a:srgbClr val="B86F42"/>
            </a:solidFill>
            <a:prstDash val="solid"/>
          </a:ln>
        </p:spPr>
      </p:sp>
      <p:sp>
        <p:nvSpPr>
          <p:cNvPr id="6" name="Text 4"/>
          <p:cNvSpPr txBox="1"/>
          <p:nvPr/>
        </p:nvSpPr>
        <p:spPr>
          <a:xfrm>
            <a:off x="1051560" y="2057400"/>
            <a:ext cx="896112" cy="292608"/>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OPTION 2</a:t>
            </a:r>
            <a:endParaRPr lang="en-US" sz="1050" dirty="0"/>
          </a:p>
        </p:txBody>
      </p:sp>
      <p:sp>
        <p:nvSpPr>
          <p:cNvPr id="7" name="Text 5"/>
          <p:cNvSpPr txBox="1"/>
          <p:nvPr/>
        </p:nvSpPr>
        <p:spPr>
          <a:xfrm>
            <a:off x="1051560" y="2514600"/>
            <a:ext cx="4518508" cy="594360"/>
          </a:xfrm>
          <a:prstGeom prst="rect">
            <a:avLst/>
          </a:prstGeom>
          <a:noFill/>
          <a:ln/>
        </p:spPr>
        <p:txBody>
          <a:bodyPr wrap="square" lIns="0" tIns="0" rIns="0" bIns="0" rtlCol="0" anchor="t"/>
          <a:lstStyle/>
          <a:p>
            <a:pPr indent="0" marL="0">
              <a:buNone/>
            </a:pPr>
            <a:r>
              <a:rPr lang="en-US" sz="2400" b="1" dirty="0">
                <a:solidFill>
                  <a:srgbClr val="1E2A24"/>
                </a:solidFill>
                <a:latin typeface="Cambria" pitchFamily="34" charset="0"/>
                <a:ea typeface="Cambria" pitchFamily="34" charset="-122"/>
                <a:cs typeface="Cambria" pitchFamily="34" charset="-120"/>
              </a:rPr>
              <a:t>The Hip Freedom Protocol</a:t>
            </a:r>
            <a:endParaRPr lang="en-US" sz="2400" dirty="0"/>
          </a:p>
        </p:txBody>
      </p:sp>
      <p:sp>
        <p:nvSpPr>
          <p:cNvPr id="8" name="Text 6"/>
          <p:cNvSpPr txBox="1"/>
          <p:nvPr/>
        </p:nvSpPr>
        <p:spPr>
          <a:xfrm>
            <a:off x="1051560" y="3291840"/>
            <a:ext cx="4518508" cy="256032"/>
          </a:xfrm>
          <a:prstGeom prst="rect">
            <a:avLst/>
          </a:prstGeom>
          <a:noFill/>
          <a:ln/>
        </p:spPr>
        <p:txBody>
          <a:bodyPr wrap="square" lIns="0" tIns="0" rIns="0" bIns="0" rtlCol="0" anchor="t"/>
          <a:lstStyle/>
          <a:p>
            <a:pPr indent="0" marL="0">
              <a:buNone/>
            </a:pPr>
            <a:r>
              <a:rPr lang="en-US" sz="1150" b="1" spc="150" kern="0" dirty="0">
                <a:solidFill>
                  <a:srgbClr val="B86F42"/>
                </a:solidFill>
                <a:latin typeface="Calibri" pitchFamily="34" charset="0"/>
                <a:ea typeface="Calibri" pitchFamily="34" charset="-122"/>
                <a:cs typeface="Calibri" pitchFamily="34" charset="-120"/>
              </a:rPr>
              <a:t>WHAT IT IS:</a:t>
            </a:r>
            <a:endParaRPr lang="en-US" sz="1150" dirty="0"/>
          </a:p>
        </p:txBody>
      </p:sp>
      <p:sp>
        <p:nvSpPr>
          <p:cNvPr id="9" name="Text 7"/>
          <p:cNvSpPr txBox="1"/>
          <p:nvPr/>
        </p:nvSpPr>
        <p:spPr>
          <a:xfrm>
            <a:off x="1051560" y="3566160"/>
            <a:ext cx="4518508" cy="914400"/>
          </a:xfrm>
          <a:prstGeom prst="rect">
            <a:avLst/>
          </a:prstGeom>
          <a:noFill/>
          <a:ln/>
        </p:spPr>
        <p:txBody>
          <a:bodyPr wrap="square" lIns="0" tIns="0" rIns="0" bIns="0" rtlCol="0" anchor="t"/>
          <a:lstStyle/>
          <a:p>
            <a:pPr indent="0" marL="0">
              <a:buNone/>
            </a:pPr>
            <a:r>
              <a:rPr lang="en-US" sz="1400" dirty="0">
                <a:solidFill>
                  <a:srgbClr val="1E2A24"/>
                </a:solidFill>
                <a:latin typeface="Calibri" pitchFamily="34" charset="0"/>
                <a:ea typeface="Calibri" pitchFamily="34" charset="-122"/>
                <a:cs typeface="Calibri" pitchFamily="34" charset="-120"/>
              </a:rPr>
              <a:t>A specialized intensive program targeting deep hip capsule decompression, internal rotation, and end-range strength.</a:t>
            </a:r>
            <a:endParaRPr lang="en-US" sz="1400" dirty="0"/>
          </a:p>
        </p:txBody>
      </p:sp>
      <p:sp>
        <p:nvSpPr>
          <p:cNvPr id="10" name="Text 8"/>
          <p:cNvSpPr txBox="1"/>
          <p:nvPr/>
        </p:nvSpPr>
        <p:spPr>
          <a:xfrm>
            <a:off x="1051560" y="4572000"/>
            <a:ext cx="4518508" cy="256032"/>
          </a:xfrm>
          <a:prstGeom prst="rect">
            <a:avLst/>
          </a:prstGeom>
          <a:noFill/>
          <a:ln/>
        </p:spPr>
        <p:txBody>
          <a:bodyPr wrap="square" lIns="0" tIns="0" rIns="0" bIns="0" rtlCol="0" anchor="t"/>
          <a:lstStyle/>
          <a:p>
            <a:pPr indent="0" marL="0">
              <a:buNone/>
            </a:pPr>
            <a:r>
              <a:rPr lang="en-US" sz="1150" b="1" spc="150" kern="0" dirty="0">
                <a:solidFill>
                  <a:srgbClr val="B86F42"/>
                </a:solidFill>
                <a:latin typeface="Calibri" pitchFamily="34" charset="0"/>
                <a:ea typeface="Calibri" pitchFamily="34" charset="-122"/>
                <a:cs typeface="Calibri" pitchFamily="34" charset="-120"/>
              </a:rPr>
              <a:t>THE DIFFERENCE:</a:t>
            </a:r>
            <a:endParaRPr lang="en-US" sz="1150" dirty="0"/>
          </a:p>
        </p:txBody>
      </p:sp>
      <p:sp>
        <p:nvSpPr>
          <p:cNvPr id="11" name="Text 9"/>
          <p:cNvSpPr txBox="1"/>
          <p:nvPr/>
        </p:nvSpPr>
        <p:spPr>
          <a:xfrm>
            <a:off x="1051560" y="4846320"/>
            <a:ext cx="4518508" cy="1005840"/>
          </a:xfrm>
          <a:prstGeom prst="rect">
            <a:avLst/>
          </a:prstGeom>
          <a:noFill/>
          <a:ln/>
        </p:spPr>
        <p:txBody>
          <a:bodyPr wrap="square" lIns="0" tIns="0" rIns="0" bIns="0" rtlCol="0" anchor="t"/>
          <a:lstStyle/>
          <a:p>
            <a:pPr indent="0" marL="0">
              <a:buNone/>
            </a:pPr>
            <a:r>
              <a:rPr lang="en-US" sz="1400" dirty="0">
                <a:solidFill>
                  <a:srgbClr val="1E2A24"/>
                </a:solidFill>
                <a:latin typeface="Calibri" pitchFamily="34" charset="0"/>
                <a:ea typeface="Calibri" pitchFamily="34" charset="-122"/>
                <a:cs typeface="Calibri" pitchFamily="34" charset="-120"/>
              </a:rPr>
              <a:t>Focuses specifically on clearing chronic hip impingement and tightness for desk workers and active adults before tackling full splits.</a:t>
            </a:r>
            <a:endParaRPr lang="en-US" sz="1400" dirty="0"/>
          </a:p>
        </p:txBody>
      </p:sp>
      <p:sp>
        <p:nvSpPr>
          <p:cNvPr id="12" name="Shape 10"/>
          <p:cNvSpPr/>
          <p:nvPr/>
        </p:nvSpPr>
        <p:spPr>
          <a:xfrm>
            <a:off x="6255868" y="1691640"/>
            <a:ext cx="5250028" cy="4434840"/>
          </a:xfrm>
          <a:prstGeom prst="roundRect">
            <a:avLst>
              <a:gd name="adj" fmla="val 1649"/>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13" name="Shape 11"/>
          <p:cNvSpPr/>
          <p:nvPr/>
        </p:nvSpPr>
        <p:spPr>
          <a:xfrm>
            <a:off x="6621628" y="2057400"/>
            <a:ext cx="896112" cy="292608"/>
          </a:xfrm>
          <a:prstGeom prst="roundRect">
            <a:avLst>
              <a:gd name="adj" fmla="val 50000"/>
            </a:avLst>
          </a:prstGeom>
          <a:solidFill>
            <a:srgbClr val="B86F42"/>
          </a:solidFill>
          <a:ln w="6350">
            <a:solidFill>
              <a:srgbClr val="B86F42"/>
            </a:solidFill>
            <a:prstDash val="solid"/>
          </a:ln>
        </p:spPr>
      </p:sp>
      <p:sp>
        <p:nvSpPr>
          <p:cNvPr id="14" name="Text 12"/>
          <p:cNvSpPr txBox="1"/>
          <p:nvPr/>
        </p:nvSpPr>
        <p:spPr>
          <a:xfrm>
            <a:off x="6621628" y="2057400"/>
            <a:ext cx="896112" cy="292608"/>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OPTION 3</a:t>
            </a:r>
            <a:endParaRPr lang="en-US" sz="1050" dirty="0"/>
          </a:p>
        </p:txBody>
      </p:sp>
      <p:sp>
        <p:nvSpPr>
          <p:cNvPr id="15" name="Text 13"/>
          <p:cNvSpPr txBox="1"/>
          <p:nvPr/>
        </p:nvSpPr>
        <p:spPr>
          <a:xfrm>
            <a:off x="6621628" y="2514600"/>
            <a:ext cx="4518508" cy="594360"/>
          </a:xfrm>
          <a:prstGeom prst="rect">
            <a:avLst/>
          </a:prstGeom>
          <a:noFill/>
          <a:ln/>
        </p:spPr>
        <p:txBody>
          <a:bodyPr wrap="square" lIns="0" tIns="0" rIns="0" bIns="0" rtlCol="0" anchor="t"/>
          <a:lstStyle/>
          <a:p>
            <a:pPr indent="0" marL="0">
              <a:buNone/>
            </a:pPr>
            <a:r>
              <a:rPr lang="en-US" sz="2400" b="1" dirty="0">
                <a:solidFill>
                  <a:srgbClr val="1E2A24"/>
                </a:solidFill>
                <a:latin typeface="Cambria" pitchFamily="34" charset="0"/>
                <a:ea typeface="Cambria" pitchFamily="34" charset="-122"/>
                <a:cs typeface="Cambria" pitchFamily="34" charset="-120"/>
              </a:rPr>
              <a:t>Spinal Flow &amp; Backbend Clinic</a:t>
            </a:r>
            <a:endParaRPr lang="en-US" sz="2400" dirty="0"/>
          </a:p>
        </p:txBody>
      </p:sp>
      <p:sp>
        <p:nvSpPr>
          <p:cNvPr id="16" name="Text 14"/>
          <p:cNvSpPr txBox="1"/>
          <p:nvPr/>
        </p:nvSpPr>
        <p:spPr>
          <a:xfrm>
            <a:off x="6621628" y="3291840"/>
            <a:ext cx="4518508" cy="256032"/>
          </a:xfrm>
          <a:prstGeom prst="rect">
            <a:avLst/>
          </a:prstGeom>
          <a:noFill/>
          <a:ln/>
        </p:spPr>
        <p:txBody>
          <a:bodyPr wrap="square" lIns="0" tIns="0" rIns="0" bIns="0" rtlCol="0" anchor="t"/>
          <a:lstStyle/>
          <a:p>
            <a:pPr indent="0" marL="0">
              <a:buNone/>
            </a:pPr>
            <a:r>
              <a:rPr lang="en-US" sz="1150" b="1" spc="150" kern="0" dirty="0">
                <a:solidFill>
                  <a:srgbClr val="B86F42"/>
                </a:solidFill>
                <a:latin typeface="Calibri" pitchFamily="34" charset="0"/>
                <a:ea typeface="Calibri" pitchFamily="34" charset="-122"/>
                <a:cs typeface="Calibri" pitchFamily="34" charset="-120"/>
              </a:rPr>
              <a:t>WHAT IT IS:</a:t>
            </a:r>
            <a:endParaRPr lang="en-US" sz="1150" dirty="0"/>
          </a:p>
        </p:txBody>
      </p:sp>
      <p:sp>
        <p:nvSpPr>
          <p:cNvPr id="17" name="Text 15"/>
          <p:cNvSpPr txBox="1"/>
          <p:nvPr/>
        </p:nvSpPr>
        <p:spPr>
          <a:xfrm>
            <a:off x="6621628" y="3566160"/>
            <a:ext cx="4518508" cy="914400"/>
          </a:xfrm>
          <a:prstGeom prst="rect">
            <a:avLst/>
          </a:prstGeom>
          <a:noFill/>
          <a:ln/>
        </p:spPr>
        <p:txBody>
          <a:bodyPr wrap="square" lIns="0" tIns="0" rIns="0" bIns="0" rtlCol="0" anchor="t"/>
          <a:lstStyle/>
          <a:p>
            <a:pPr indent="0" marL="0">
              <a:buNone/>
            </a:pPr>
            <a:r>
              <a:rPr lang="en-US" sz="1400" dirty="0">
                <a:solidFill>
                  <a:srgbClr val="1E2A24"/>
                </a:solidFill>
                <a:latin typeface="Calibri" pitchFamily="34" charset="0"/>
                <a:ea typeface="Calibri" pitchFamily="34" charset="-122"/>
                <a:cs typeface="Calibri" pitchFamily="34" charset="-120"/>
              </a:rPr>
              <a:t>An intensive masterclass and cohort dedicated to thoracic extension, shoulder mobility, and safe backbending.</a:t>
            </a:r>
            <a:endParaRPr lang="en-US" sz="1400" dirty="0"/>
          </a:p>
        </p:txBody>
      </p:sp>
      <p:sp>
        <p:nvSpPr>
          <p:cNvPr id="18" name="Text 16"/>
          <p:cNvSpPr txBox="1"/>
          <p:nvPr/>
        </p:nvSpPr>
        <p:spPr>
          <a:xfrm>
            <a:off x="6621628" y="4572000"/>
            <a:ext cx="4518508" cy="256032"/>
          </a:xfrm>
          <a:prstGeom prst="rect">
            <a:avLst/>
          </a:prstGeom>
          <a:noFill/>
          <a:ln/>
        </p:spPr>
        <p:txBody>
          <a:bodyPr wrap="square" lIns="0" tIns="0" rIns="0" bIns="0" rtlCol="0" anchor="t"/>
          <a:lstStyle/>
          <a:p>
            <a:pPr indent="0" marL="0">
              <a:buNone/>
            </a:pPr>
            <a:r>
              <a:rPr lang="en-US" sz="1150" b="1" spc="150" kern="0" dirty="0">
                <a:solidFill>
                  <a:srgbClr val="B86F42"/>
                </a:solidFill>
                <a:latin typeface="Calibri" pitchFamily="34" charset="0"/>
                <a:ea typeface="Calibri" pitchFamily="34" charset="-122"/>
                <a:cs typeface="Calibri" pitchFamily="34" charset="-120"/>
              </a:rPr>
              <a:t>THE DIFFERENCE:</a:t>
            </a:r>
            <a:endParaRPr lang="en-US" sz="1150" dirty="0"/>
          </a:p>
        </p:txBody>
      </p:sp>
      <p:sp>
        <p:nvSpPr>
          <p:cNvPr id="19" name="Text 17"/>
          <p:cNvSpPr txBox="1"/>
          <p:nvPr/>
        </p:nvSpPr>
        <p:spPr>
          <a:xfrm>
            <a:off x="6621628" y="4846320"/>
            <a:ext cx="4518508" cy="1005840"/>
          </a:xfrm>
          <a:prstGeom prst="rect">
            <a:avLst/>
          </a:prstGeom>
          <a:noFill/>
          <a:ln/>
        </p:spPr>
        <p:txBody>
          <a:bodyPr wrap="square" lIns="0" tIns="0" rIns="0" bIns="0" rtlCol="0" anchor="t"/>
          <a:lstStyle/>
          <a:p>
            <a:pPr indent="0" marL="0">
              <a:buNone/>
            </a:pPr>
            <a:r>
              <a:rPr lang="en-US" sz="1400" dirty="0">
                <a:solidFill>
                  <a:srgbClr val="1E2A24"/>
                </a:solidFill>
                <a:latin typeface="Calibri" pitchFamily="34" charset="0"/>
                <a:ea typeface="Calibri" pitchFamily="34" charset="-122"/>
                <a:cs typeface="Calibri" pitchFamily="34" charset="-120"/>
              </a:rPr>
              <a:t>A targeted approach for people who experience stiff posture or back tension and want to unlock upper-body freedom safely.</a:t>
            </a:r>
            <a:endParaRPr lang="en-US" sz="1400" dirty="0"/>
          </a:p>
        </p:txBody>
      </p:sp>
      <p:sp>
        <p:nvSpPr>
          <p:cNvPr id="20" name="Text 18"/>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6B6F68"/>
                </a:solidFill>
                <a:latin typeface="Calibri" pitchFamily="34" charset="0"/>
                <a:ea typeface="Calibri" pitchFamily="34" charset="-122"/>
                <a:cs typeface="Calibri" pitchFamily="34" charset="-120"/>
              </a:rPr>
              <a:t>Monetisation Audit  ·  @lena_abuela</a:t>
            </a:r>
            <a:endParaRPr lang="en-US" sz="1000" dirty="0"/>
          </a:p>
        </p:txBody>
      </p:sp>
      <p:sp>
        <p:nvSpPr>
          <p:cNvPr id="21" name="Text 19"/>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6B6F6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SECTION 05</a:t>
            </a:r>
            <a:endParaRPr lang="en-US" sz="1200" dirty="0"/>
          </a:p>
        </p:txBody>
      </p:sp>
      <p:sp>
        <p:nvSpPr>
          <p:cNvPr id="3" name="Text 1"/>
          <p:cNvSpPr txBox="1"/>
          <p:nvPr/>
        </p:nvSpPr>
        <p:spPr>
          <a:xfrm>
            <a:off x="685800" y="749808"/>
            <a:ext cx="10820095" cy="731520"/>
          </a:xfrm>
          <a:prstGeom prst="rect">
            <a:avLst/>
          </a:prstGeom>
          <a:noFill/>
          <a:ln/>
        </p:spPr>
        <p:txBody>
          <a:bodyPr wrap="square" lIns="0" tIns="0" rIns="0" bIns="0" rtlCol="0" anchor="t"/>
          <a:lstStyle/>
          <a:p>
            <a:pPr indent="0" marL="0">
              <a:buNone/>
            </a:pPr>
            <a:r>
              <a:rPr lang="en-US" sz="3200" b="1" dirty="0">
                <a:solidFill>
                  <a:srgbClr val="1E2A24"/>
                </a:solidFill>
                <a:latin typeface="Cambria" pitchFamily="34" charset="0"/>
                <a:ea typeface="Cambria" pitchFamily="34" charset="-122"/>
                <a:cs typeface="Cambria" pitchFamily="34" charset="-120"/>
              </a:rPr>
              <a:t>Implementation Plan</a:t>
            </a:r>
            <a:endParaRPr lang="en-US" sz="3200" dirty="0"/>
          </a:p>
        </p:txBody>
      </p:sp>
      <p:sp>
        <p:nvSpPr>
          <p:cNvPr id="4" name="Text 2"/>
          <p:cNvSpPr txBox="1"/>
          <p:nvPr/>
        </p:nvSpPr>
        <p:spPr>
          <a:xfrm>
            <a:off x="685800" y="1417320"/>
            <a:ext cx="10820095" cy="320040"/>
          </a:xfrm>
          <a:prstGeom prst="rect">
            <a:avLst/>
          </a:prstGeom>
          <a:noFill/>
          <a:ln/>
        </p:spPr>
        <p:txBody>
          <a:bodyPr wrap="square" lIns="0" tIns="0" rIns="0" bIns="0" rtlCol="0" anchor="t"/>
          <a:lstStyle/>
          <a:p>
            <a:pPr indent="0" marL="0">
              <a:buNone/>
            </a:pPr>
            <a:r>
              <a:rPr lang="en-US" sz="1500" i="1" dirty="0">
                <a:solidFill>
                  <a:srgbClr val="6B6F68"/>
                </a:solidFill>
                <a:latin typeface="Calibri" pitchFamily="34" charset="0"/>
                <a:ea typeface="Calibri" pitchFamily="34" charset="-122"/>
                <a:cs typeface="Calibri" pitchFamily="34" charset="-120"/>
              </a:rPr>
              <a:t>If you decide to move forward, this is the launch structure we will use:</a:t>
            </a:r>
            <a:endParaRPr lang="en-US" sz="1500" dirty="0"/>
          </a:p>
        </p:txBody>
      </p:sp>
      <p:sp>
        <p:nvSpPr>
          <p:cNvPr id="5" name="Shape 3"/>
          <p:cNvSpPr/>
          <p:nvPr/>
        </p:nvSpPr>
        <p:spPr>
          <a:xfrm>
            <a:off x="685800" y="1920240"/>
            <a:ext cx="3423818" cy="2011680"/>
          </a:xfrm>
          <a:prstGeom prst="roundRect">
            <a:avLst>
              <a:gd name="adj" fmla="val 3636"/>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6" name="Shape 4"/>
          <p:cNvSpPr/>
          <p:nvPr/>
        </p:nvSpPr>
        <p:spPr>
          <a:xfrm>
            <a:off x="960120" y="2176272"/>
            <a:ext cx="384048" cy="384048"/>
          </a:xfrm>
          <a:prstGeom prst="ellipse">
            <a:avLst/>
          </a:prstGeom>
          <a:solidFill>
            <a:srgbClr val="B86F42"/>
          </a:solidFill>
          <a:ln w="6350">
            <a:solidFill>
              <a:srgbClr val="B86F42"/>
            </a:solidFill>
            <a:prstDash val="solid"/>
          </a:ln>
        </p:spPr>
      </p:sp>
      <p:sp>
        <p:nvSpPr>
          <p:cNvPr id="7" name="Text 5"/>
          <p:cNvSpPr txBox="1"/>
          <p:nvPr/>
        </p:nvSpPr>
        <p:spPr>
          <a:xfrm>
            <a:off x="960120" y="2176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463040" y="2194560"/>
            <a:ext cx="2417978" cy="365760"/>
          </a:xfrm>
          <a:prstGeom prst="rect">
            <a:avLst/>
          </a:prstGeom>
          <a:noFill/>
          <a:ln/>
        </p:spPr>
        <p:txBody>
          <a:bodyPr wrap="square" lIns="0" tIns="0" rIns="0" bIns="0" rtlCol="0" anchor="ctr"/>
          <a:lstStyle/>
          <a:p>
            <a:pPr indent="0" marL="0">
              <a:buNone/>
            </a:pPr>
            <a:r>
              <a:rPr lang="en-US" sz="1500" b="1" dirty="0">
                <a:solidFill>
                  <a:srgbClr val="1E2A24"/>
                </a:solidFill>
                <a:latin typeface="Cambria" pitchFamily="34" charset="0"/>
                <a:ea typeface="Cambria" pitchFamily="34" charset="-122"/>
                <a:cs typeface="Cambria" pitchFamily="34" charset="-120"/>
              </a:rPr>
              <a:t>Phase 1: Build Up</a:t>
            </a:r>
            <a:endParaRPr lang="en-US" sz="1500" dirty="0"/>
          </a:p>
        </p:txBody>
      </p:sp>
      <p:sp>
        <p:nvSpPr>
          <p:cNvPr id="9" name="Text 7"/>
          <p:cNvSpPr txBox="1"/>
          <p:nvPr/>
        </p:nvSpPr>
        <p:spPr>
          <a:xfrm>
            <a:off x="960120" y="2697480"/>
            <a:ext cx="2875178" cy="109728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Engage your community and tease that something big is coming. Interactive stories (polls, Q&amp;A boxes, DMs) touching on their pain points and showing your results — high interaction is the goal.</a:t>
            </a:r>
            <a:endParaRPr lang="en-US" sz="1250" dirty="0"/>
          </a:p>
        </p:txBody>
      </p:sp>
      <p:sp>
        <p:nvSpPr>
          <p:cNvPr id="10" name="Shape 8"/>
          <p:cNvSpPr/>
          <p:nvPr/>
        </p:nvSpPr>
        <p:spPr>
          <a:xfrm>
            <a:off x="4383938" y="1920240"/>
            <a:ext cx="3423818" cy="2011680"/>
          </a:xfrm>
          <a:prstGeom prst="roundRect">
            <a:avLst>
              <a:gd name="adj" fmla="val 3636"/>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11" name="Shape 9"/>
          <p:cNvSpPr/>
          <p:nvPr/>
        </p:nvSpPr>
        <p:spPr>
          <a:xfrm>
            <a:off x="4658258" y="2176272"/>
            <a:ext cx="384048" cy="384048"/>
          </a:xfrm>
          <a:prstGeom prst="ellipse">
            <a:avLst/>
          </a:prstGeom>
          <a:solidFill>
            <a:srgbClr val="B86F42"/>
          </a:solidFill>
          <a:ln w="6350">
            <a:solidFill>
              <a:srgbClr val="B86F42"/>
            </a:solidFill>
            <a:prstDash val="solid"/>
          </a:ln>
        </p:spPr>
      </p:sp>
      <p:sp>
        <p:nvSpPr>
          <p:cNvPr id="12" name="Text 10"/>
          <p:cNvSpPr txBox="1"/>
          <p:nvPr/>
        </p:nvSpPr>
        <p:spPr>
          <a:xfrm>
            <a:off x="4658258" y="2176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5161178" y="2194560"/>
            <a:ext cx="2417978" cy="365760"/>
          </a:xfrm>
          <a:prstGeom prst="rect">
            <a:avLst/>
          </a:prstGeom>
          <a:noFill/>
          <a:ln/>
        </p:spPr>
        <p:txBody>
          <a:bodyPr wrap="square" lIns="0" tIns="0" rIns="0" bIns="0" rtlCol="0" anchor="ctr"/>
          <a:lstStyle/>
          <a:p>
            <a:pPr indent="0" marL="0">
              <a:buNone/>
            </a:pPr>
            <a:r>
              <a:rPr lang="en-US" sz="1500" b="1" dirty="0">
                <a:solidFill>
                  <a:srgbClr val="1E2A24"/>
                </a:solidFill>
                <a:latin typeface="Cambria" pitchFamily="34" charset="0"/>
                <a:ea typeface="Cambria" pitchFamily="34" charset="-122"/>
                <a:cs typeface="Cambria" pitchFamily="34" charset="-120"/>
              </a:rPr>
              <a:t>Phase 2: Invitation</a:t>
            </a:r>
            <a:endParaRPr lang="en-US" sz="1500" dirty="0"/>
          </a:p>
        </p:txBody>
      </p:sp>
      <p:sp>
        <p:nvSpPr>
          <p:cNvPr id="14" name="Text 12"/>
          <p:cNvSpPr txBox="1"/>
          <p:nvPr/>
        </p:nvSpPr>
        <p:spPr>
          <a:xfrm>
            <a:off x="4658258" y="2697480"/>
            <a:ext cx="2875178" cy="109728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Announce it's on the way and invite your audience into a private group (WhatsApp or Telegram) where all details will be revealed. Tease the time-limited exclusive bonus.</a:t>
            </a:r>
            <a:endParaRPr lang="en-US" sz="1250" dirty="0"/>
          </a:p>
        </p:txBody>
      </p:sp>
      <p:sp>
        <p:nvSpPr>
          <p:cNvPr id="15" name="Shape 13"/>
          <p:cNvSpPr/>
          <p:nvPr/>
        </p:nvSpPr>
        <p:spPr>
          <a:xfrm>
            <a:off x="8082077" y="1920240"/>
            <a:ext cx="3423818" cy="2011680"/>
          </a:xfrm>
          <a:prstGeom prst="roundRect">
            <a:avLst>
              <a:gd name="adj" fmla="val 3636"/>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16" name="Shape 14"/>
          <p:cNvSpPr/>
          <p:nvPr/>
        </p:nvSpPr>
        <p:spPr>
          <a:xfrm>
            <a:off x="8356397" y="2176272"/>
            <a:ext cx="384048" cy="384048"/>
          </a:xfrm>
          <a:prstGeom prst="ellipse">
            <a:avLst/>
          </a:prstGeom>
          <a:solidFill>
            <a:srgbClr val="B86F42"/>
          </a:solidFill>
          <a:ln w="6350">
            <a:solidFill>
              <a:srgbClr val="B86F42"/>
            </a:solidFill>
            <a:prstDash val="solid"/>
          </a:ln>
        </p:spPr>
      </p:sp>
      <p:sp>
        <p:nvSpPr>
          <p:cNvPr id="17" name="Text 15"/>
          <p:cNvSpPr txBox="1"/>
          <p:nvPr/>
        </p:nvSpPr>
        <p:spPr>
          <a:xfrm>
            <a:off x="8356397" y="2176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8859317" y="2194560"/>
            <a:ext cx="2417978" cy="365760"/>
          </a:xfrm>
          <a:prstGeom prst="rect">
            <a:avLst/>
          </a:prstGeom>
          <a:noFill/>
          <a:ln/>
        </p:spPr>
        <p:txBody>
          <a:bodyPr wrap="square" lIns="0" tIns="0" rIns="0" bIns="0" rtlCol="0" anchor="ctr"/>
          <a:lstStyle/>
          <a:p>
            <a:pPr indent="0" marL="0">
              <a:buNone/>
            </a:pPr>
            <a:r>
              <a:rPr lang="en-US" sz="1500" b="1" dirty="0">
                <a:solidFill>
                  <a:srgbClr val="1E2A24"/>
                </a:solidFill>
                <a:latin typeface="Cambria" pitchFamily="34" charset="0"/>
                <a:ea typeface="Cambria" pitchFamily="34" charset="-122"/>
                <a:cs typeface="Cambria" pitchFamily="34" charset="-120"/>
              </a:rPr>
              <a:t>Phase 3: Anticipation</a:t>
            </a:r>
            <a:endParaRPr lang="en-US" sz="1500" dirty="0"/>
          </a:p>
        </p:txBody>
      </p:sp>
      <p:sp>
        <p:nvSpPr>
          <p:cNvPr id="19" name="Text 17"/>
          <p:cNvSpPr txBox="1"/>
          <p:nvPr/>
        </p:nvSpPr>
        <p:spPr>
          <a:xfrm>
            <a:off x="8356397" y="2697480"/>
            <a:ext cx="2875178" cy="109728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Build curiosity inside the group. Tease what's coming, share the results people can achieve, and make the timeline crystal clear — so everyone is ready to act the moment doors open.</a:t>
            </a:r>
            <a:endParaRPr lang="en-US" sz="1250" dirty="0"/>
          </a:p>
        </p:txBody>
      </p:sp>
      <p:sp>
        <p:nvSpPr>
          <p:cNvPr id="20" name="Shape 18"/>
          <p:cNvSpPr/>
          <p:nvPr/>
        </p:nvSpPr>
        <p:spPr>
          <a:xfrm>
            <a:off x="685800" y="4160520"/>
            <a:ext cx="3423818" cy="2011680"/>
          </a:xfrm>
          <a:prstGeom prst="roundRect">
            <a:avLst>
              <a:gd name="adj" fmla="val 3636"/>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21" name="Shape 19"/>
          <p:cNvSpPr/>
          <p:nvPr/>
        </p:nvSpPr>
        <p:spPr>
          <a:xfrm>
            <a:off x="960120" y="4416552"/>
            <a:ext cx="384048" cy="384048"/>
          </a:xfrm>
          <a:prstGeom prst="ellipse">
            <a:avLst/>
          </a:prstGeom>
          <a:solidFill>
            <a:srgbClr val="B86F42"/>
          </a:solidFill>
          <a:ln w="6350">
            <a:solidFill>
              <a:srgbClr val="B86F42"/>
            </a:solidFill>
            <a:prstDash val="solid"/>
          </a:ln>
        </p:spPr>
      </p:sp>
      <p:sp>
        <p:nvSpPr>
          <p:cNvPr id="22" name="Text 20"/>
          <p:cNvSpPr txBox="1"/>
          <p:nvPr/>
        </p:nvSpPr>
        <p:spPr>
          <a:xfrm>
            <a:off x="960120" y="4416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463040" y="4434840"/>
            <a:ext cx="2417978" cy="365760"/>
          </a:xfrm>
          <a:prstGeom prst="rect">
            <a:avLst/>
          </a:prstGeom>
          <a:noFill/>
          <a:ln/>
        </p:spPr>
        <p:txBody>
          <a:bodyPr wrap="square" lIns="0" tIns="0" rIns="0" bIns="0" rtlCol="0" anchor="ctr"/>
          <a:lstStyle/>
          <a:p>
            <a:pPr indent="0" marL="0">
              <a:buNone/>
            </a:pPr>
            <a:r>
              <a:rPr lang="en-US" sz="1500" b="1" dirty="0">
                <a:solidFill>
                  <a:srgbClr val="1E2A24"/>
                </a:solidFill>
                <a:latin typeface="Cambria" pitchFamily="34" charset="0"/>
                <a:ea typeface="Cambria" pitchFamily="34" charset="-122"/>
                <a:cs typeface="Cambria" pitchFamily="34" charset="-120"/>
              </a:rPr>
              <a:t>Phase 4: Reveal</a:t>
            </a:r>
            <a:endParaRPr lang="en-US" sz="1500" dirty="0"/>
          </a:p>
        </p:txBody>
      </p:sp>
      <p:sp>
        <p:nvSpPr>
          <p:cNvPr id="24" name="Text 22"/>
          <p:cNvSpPr txBox="1"/>
          <p:nvPr/>
        </p:nvSpPr>
        <p:spPr>
          <a:xfrm>
            <a:off x="960120" y="4937760"/>
            <a:ext cx="2875178" cy="109728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Deliver the full breakdown: what's included, the exclusive bonus, the price, and the open/close dates. Leave no doubt about what's on offer.</a:t>
            </a:r>
            <a:endParaRPr lang="en-US" sz="1250" dirty="0"/>
          </a:p>
        </p:txBody>
      </p:sp>
      <p:sp>
        <p:nvSpPr>
          <p:cNvPr id="25" name="Shape 23"/>
          <p:cNvSpPr/>
          <p:nvPr/>
        </p:nvSpPr>
        <p:spPr>
          <a:xfrm>
            <a:off x="4383938" y="4160520"/>
            <a:ext cx="3423818" cy="2011680"/>
          </a:xfrm>
          <a:prstGeom prst="roundRect">
            <a:avLst>
              <a:gd name="adj" fmla="val 3636"/>
            </a:avLst>
          </a:prstGeom>
          <a:solidFill>
            <a:srgbClr val="2A3830"/>
          </a:solidFill>
          <a:ln w="6350">
            <a:solidFill>
              <a:srgbClr val="2A3830"/>
            </a:solidFill>
            <a:prstDash val="solid"/>
          </a:ln>
          <a:effectLst>
            <a:outerShdw sx="100000" sy="100000" kx="0" ky="0" algn="bl" rotWithShape="0" blurRad="127000" dist="25400" dir="5400000">
              <a:srgbClr val="000000">
                <a:alpha val="8000"/>
              </a:srgbClr>
            </a:outerShdw>
          </a:effectLst>
        </p:spPr>
      </p:sp>
      <p:sp>
        <p:nvSpPr>
          <p:cNvPr id="26" name="Shape 24"/>
          <p:cNvSpPr/>
          <p:nvPr/>
        </p:nvSpPr>
        <p:spPr>
          <a:xfrm>
            <a:off x="4658258" y="4416552"/>
            <a:ext cx="384048" cy="384048"/>
          </a:xfrm>
          <a:prstGeom prst="ellipse">
            <a:avLst/>
          </a:prstGeom>
          <a:solidFill>
            <a:srgbClr val="D9966B"/>
          </a:solidFill>
          <a:ln w="6350">
            <a:solidFill>
              <a:srgbClr val="D9966B"/>
            </a:solidFill>
            <a:prstDash val="solid"/>
          </a:ln>
        </p:spPr>
      </p:sp>
      <p:sp>
        <p:nvSpPr>
          <p:cNvPr id="27" name="Text 25"/>
          <p:cNvSpPr txBox="1"/>
          <p:nvPr/>
        </p:nvSpPr>
        <p:spPr>
          <a:xfrm>
            <a:off x="4658258" y="4416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5161178" y="4434840"/>
            <a:ext cx="2417978"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Phase 5: Conversion</a:t>
            </a:r>
            <a:endParaRPr lang="en-US" sz="1500" dirty="0"/>
          </a:p>
        </p:txBody>
      </p:sp>
      <p:sp>
        <p:nvSpPr>
          <p:cNvPr id="29" name="Text 27"/>
          <p:cNvSpPr txBox="1"/>
          <p:nvPr/>
        </p:nvSpPr>
        <p:spPr>
          <a:xfrm>
            <a:off x="4658258" y="4937760"/>
            <a:ext cx="2875178" cy="10972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Send the application link for one of the limited spots, run a poll to see who's in or has questions, and follow up 1-on-1 in the DMs with everyone who raises a hand — that's where most conversions happen.</a:t>
            </a:r>
            <a:endParaRPr lang="en-US" sz="1250" dirty="0"/>
          </a:p>
        </p:txBody>
      </p:sp>
      <p:sp>
        <p:nvSpPr>
          <p:cNvPr id="30" name="Shape 28"/>
          <p:cNvSpPr/>
          <p:nvPr/>
        </p:nvSpPr>
        <p:spPr>
          <a:xfrm>
            <a:off x="8082077" y="4160520"/>
            <a:ext cx="3423818" cy="2011680"/>
          </a:xfrm>
          <a:prstGeom prst="roundRect">
            <a:avLst>
              <a:gd name="adj" fmla="val 3636"/>
            </a:avLst>
          </a:prstGeom>
          <a:solidFill>
            <a:srgbClr val="F6F2ED"/>
          </a:solidFill>
          <a:ln w="6350">
            <a:solidFill>
              <a:srgbClr val="F6F2ED"/>
            </a:solidFill>
            <a:prstDash val="solid"/>
          </a:ln>
          <a:effectLst>
            <a:outerShdw sx="100000" sy="100000" kx="0" ky="0" algn="bl" rotWithShape="0" blurRad="127000" dist="25400" dir="5400000">
              <a:srgbClr val="000000">
                <a:alpha val="8000"/>
              </a:srgbClr>
            </a:outerShdw>
          </a:effectLst>
        </p:spPr>
      </p:sp>
      <p:sp>
        <p:nvSpPr>
          <p:cNvPr id="31" name="Shape 29"/>
          <p:cNvSpPr/>
          <p:nvPr/>
        </p:nvSpPr>
        <p:spPr>
          <a:xfrm>
            <a:off x="8356397" y="4416552"/>
            <a:ext cx="384048" cy="384048"/>
          </a:xfrm>
          <a:prstGeom prst="ellipse">
            <a:avLst/>
          </a:prstGeom>
          <a:solidFill>
            <a:srgbClr val="B86F42"/>
          </a:solidFill>
          <a:ln w="6350">
            <a:solidFill>
              <a:srgbClr val="B86F42"/>
            </a:solidFill>
            <a:prstDash val="solid"/>
          </a:ln>
        </p:spPr>
      </p:sp>
      <p:sp>
        <p:nvSpPr>
          <p:cNvPr id="32" name="Text 30"/>
          <p:cNvSpPr txBox="1"/>
          <p:nvPr/>
        </p:nvSpPr>
        <p:spPr>
          <a:xfrm>
            <a:off x="8356397" y="44165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txBox="1"/>
          <p:nvPr/>
        </p:nvSpPr>
        <p:spPr>
          <a:xfrm>
            <a:off x="8859317" y="4434840"/>
            <a:ext cx="2417978" cy="365760"/>
          </a:xfrm>
          <a:prstGeom prst="rect">
            <a:avLst/>
          </a:prstGeom>
          <a:noFill/>
          <a:ln/>
        </p:spPr>
        <p:txBody>
          <a:bodyPr wrap="square" lIns="0" tIns="0" rIns="0" bIns="0" rtlCol="0" anchor="ctr"/>
          <a:lstStyle/>
          <a:p>
            <a:pPr indent="0" marL="0">
              <a:buNone/>
            </a:pPr>
            <a:r>
              <a:rPr lang="en-US" sz="1500" b="1" dirty="0">
                <a:solidFill>
                  <a:srgbClr val="1E2A24"/>
                </a:solidFill>
                <a:latin typeface="Cambria" pitchFamily="34" charset="0"/>
                <a:ea typeface="Cambria" pitchFamily="34" charset="-122"/>
                <a:cs typeface="Cambria" pitchFamily="34" charset="-120"/>
              </a:rPr>
              <a:t>Phase 6: Urgency</a:t>
            </a:r>
            <a:endParaRPr lang="en-US" sz="1500" dirty="0"/>
          </a:p>
        </p:txBody>
      </p:sp>
      <p:sp>
        <p:nvSpPr>
          <p:cNvPr id="34" name="Text 32"/>
          <p:cNvSpPr txBox="1"/>
          <p:nvPr/>
        </p:nvSpPr>
        <p:spPr>
          <a:xfrm>
            <a:off x="8356397" y="4937760"/>
            <a:ext cx="2875178" cy="1097280"/>
          </a:xfrm>
          <a:prstGeom prst="rect">
            <a:avLst/>
          </a:prstGeom>
          <a:noFill/>
          <a:ln/>
        </p:spPr>
        <p:txBody>
          <a:bodyPr wrap="square" lIns="0" tIns="0" rIns="0" bIns="0" rtlCol="0" anchor="t"/>
          <a:lstStyle/>
          <a:p>
            <a:pPr indent="0" marL="0">
              <a:buNone/>
            </a:pPr>
            <a:r>
              <a:rPr lang="en-US" sz="1250" dirty="0">
                <a:solidFill>
                  <a:srgbClr val="1E2A24"/>
                </a:solidFill>
                <a:latin typeface="Calibri" pitchFamily="34" charset="0"/>
                <a:ea typeface="Calibri" pitchFamily="34" charset="-122"/>
                <a:cs typeface="Calibri" pitchFamily="34" charset="-120"/>
              </a:rPr>
              <a:t>Countdown messages (24h, 12h, 6h, 2h, closed) that make them visualize exactly what they lose by staying out. The close must be real — reopening destroys credibility for the next launch.</a:t>
            </a:r>
            <a:endParaRPr lang="en-US" sz="1250" dirty="0"/>
          </a:p>
        </p:txBody>
      </p:sp>
      <p:sp>
        <p:nvSpPr>
          <p:cNvPr id="35" name="Text 33"/>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6B6F68"/>
                </a:solidFill>
                <a:latin typeface="Calibri" pitchFamily="34" charset="0"/>
                <a:ea typeface="Calibri" pitchFamily="34" charset="-122"/>
                <a:cs typeface="Calibri" pitchFamily="34" charset="-120"/>
              </a:rPr>
              <a:t>Monetisation Audit  ·  @lena_abuela</a:t>
            </a:r>
            <a:endParaRPr lang="en-US" sz="1000" dirty="0"/>
          </a:p>
        </p:txBody>
      </p:sp>
      <p:sp>
        <p:nvSpPr>
          <p:cNvPr id="36" name="Text 34"/>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6B6F6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200" b="1" spc="200" kern="0" dirty="0">
                <a:solidFill>
                  <a:srgbClr val="B86F42"/>
                </a:solidFill>
                <a:latin typeface="Calibri" pitchFamily="34" charset="0"/>
                <a:ea typeface="Calibri" pitchFamily="34" charset="-122"/>
                <a:cs typeface="Calibri" pitchFamily="34" charset="-120"/>
              </a:rPr>
              <a:t>SECTION 06</a:t>
            </a:r>
            <a:endParaRPr lang="en-US" sz="1200" dirty="0"/>
          </a:p>
        </p:txBody>
      </p:sp>
      <p:sp>
        <p:nvSpPr>
          <p:cNvPr id="3" name="Text 1"/>
          <p:cNvSpPr txBox="1"/>
          <p:nvPr/>
        </p:nvSpPr>
        <p:spPr>
          <a:xfrm>
            <a:off x="685800" y="749808"/>
            <a:ext cx="10820095" cy="731520"/>
          </a:xfrm>
          <a:prstGeom prst="rect">
            <a:avLst/>
          </a:prstGeom>
          <a:noFill/>
          <a:ln/>
        </p:spPr>
        <p:txBody>
          <a:bodyPr wrap="square" lIns="0" tIns="0" rIns="0" bIns="0" rtlCol="0" anchor="t"/>
          <a:lstStyle/>
          <a:p>
            <a:pPr indent="0" marL="0">
              <a:buNone/>
            </a:pPr>
            <a:r>
              <a:rPr lang="en-US" sz="3200" b="1" dirty="0">
                <a:solidFill>
                  <a:srgbClr val="1E2A24"/>
                </a:solidFill>
                <a:latin typeface="Cambria" pitchFamily="34" charset="0"/>
                <a:ea typeface="Cambria" pitchFamily="34" charset="-122"/>
                <a:cs typeface="Cambria" pitchFamily="34" charset="-120"/>
              </a:rPr>
              <a:t>Immediate Validation (Test Carousel)</a:t>
            </a:r>
            <a:endParaRPr lang="en-US" sz="3200" dirty="0"/>
          </a:p>
        </p:txBody>
      </p:sp>
      <p:sp>
        <p:nvSpPr>
          <p:cNvPr id="4" name="Text 2"/>
          <p:cNvSpPr txBox="1"/>
          <p:nvPr/>
        </p:nvSpPr>
        <p:spPr>
          <a:xfrm>
            <a:off x="685800" y="1417320"/>
            <a:ext cx="10820095" cy="548640"/>
          </a:xfrm>
          <a:prstGeom prst="rect">
            <a:avLst/>
          </a:prstGeom>
          <a:noFill/>
          <a:ln/>
        </p:spPr>
        <p:txBody>
          <a:bodyPr wrap="square" lIns="0" tIns="0" rIns="0" bIns="0" rtlCol="0" anchor="t"/>
          <a:lstStyle/>
          <a:p>
            <a:pPr indent="0" marL="0">
              <a:buNone/>
            </a:pPr>
            <a:r>
              <a:rPr lang="en-US" sz="1500" i="1" dirty="0">
                <a:solidFill>
                  <a:srgbClr val="6B6F68"/>
                </a:solidFill>
                <a:latin typeface="Calibri" pitchFamily="34" charset="0"/>
                <a:ea typeface="Calibri" pitchFamily="34" charset="-122"/>
                <a:cs typeface="Calibri" pitchFamily="34" charset="-120"/>
              </a:rPr>
              <a:t>"Here is the first step to validate demand. Post this simple carousel (black background, white text) to validate demand before building anything."</a:t>
            </a:r>
            <a:endParaRPr lang="en-US" sz="1500" dirty="0"/>
          </a:p>
        </p:txBody>
      </p:sp>
      <p:sp>
        <p:nvSpPr>
          <p:cNvPr id="5" name="Text 3"/>
          <p:cNvSpPr txBox="1"/>
          <p:nvPr/>
        </p:nvSpPr>
        <p:spPr>
          <a:xfrm>
            <a:off x="685800" y="2148840"/>
            <a:ext cx="3362858" cy="274320"/>
          </a:xfrm>
          <a:prstGeom prst="rect">
            <a:avLst/>
          </a:prstGeom>
          <a:noFill/>
          <a:ln/>
        </p:spPr>
        <p:txBody>
          <a:bodyPr wrap="square" lIns="0" tIns="0" rIns="0" bIns="0" rtlCol="0" anchor="t"/>
          <a:lstStyle/>
          <a:p>
            <a:pPr indent="0" marL="0">
              <a:buNone/>
            </a:pPr>
            <a:r>
              <a:rPr lang="en-US" sz="1100" b="1" spc="150" kern="0" dirty="0">
                <a:solidFill>
                  <a:srgbClr val="B86F42"/>
                </a:solidFill>
                <a:latin typeface="Calibri" pitchFamily="34" charset="0"/>
                <a:ea typeface="Calibri" pitchFamily="34" charset="-122"/>
                <a:cs typeface="Calibri" pitchFamily="34" charset="-120"/>
              </a:rPr>
              <a:t>SLIDE 1 (THE HOOK):</a:t>
            </a:r>
            <a:endParaRPr lang="en-US" sz="1100" dirty="0"/>
          </a:p>
        </p:txBody>
      </p:sp>
      <p:sp>
        <p:nvSpPr>
          <p:cNvPr id="6" name="Shape 4"/>
          <p:cNvSpPr/>
          <p:nvPr/>
        </p:nvSpPr>
        <p:spPr>
          <a:xfrm>
            <a:off x="685800" y="2514600"/>
            <a:ext cx="3362858" cy="3566160"/>
          </a:xfrm>
          <a:prstGeom prst="rect">
            <a:avLst/>
          </a:prstGeom>
          <a:solidFill>
            <a:srgbClr val="000000"/>
          </a:solidFill>
          <a:ln w="6350">
            <a:solidFill>
              <a:srgbClr val="000000"/>
            </a:solidFill>
            <a:prstDash val="solid"/>
          </a:ln>
          <a:effectLst>
            <a:outerShdw sx="100000" sy="100000" kx="0" ky="0" algn="bl" rotWithShape="0" blurRad="127000" dist="25400" dir="5400000">
              <a:srgbClr val="000000">
                <a:alpha val="8000"/>
              </a:srgbClr>
            </a:outerShdw>
          </a:effectLst>
        </p:spPr>
      </p:sp>
      <p:sp>
        <p:nvSpPr>
          <p:cNvPr id="7" name="Text 5"/>
          <p:cNvSpPr txBox="1"/>
          <p:nvPr/>
        </p:nvSpPr>
        <p:spPr>
          <a:xfrm>
            <a:off x="1005840" y="2834640"/>
            <a:ext cx="2722778" cy="2926080"/>
          </a:xfrm>
          <a:prstGeom prst="rect">
            <a:avLst/>
          </a:prstGeom>
          <a:noFill/>
          <a:ln/>
        </p:spPr>
        <p:txBody>
          <a:bodyPr wrap="square" lIns="0" tIns="0" rIns="0" bIns="0" rtlCol="0" anchor="ctr"/>
          <a:lstStyle/>
          <a:p>
            <a:pPr algn="ctr" indent="0" marL="0">
              <a:spcAft>
                <a:spcPts val="1000"/>
              </a:spcAft>
              <a:buNone/>
            </a:pPr>
            <a:r>
              <a:rPr lang="en-US" sz="2000" dirty="0">
                <a:solidFill>
                  <a:srgbClr val="FFFFFF"/>
                </a:solidFill>
                <a:latin typeface="Cambria" pitchFamily="34" charset="0"/>
                <a:ea typeface="Cambria" pitchFamily="34" charset="-122"/>
                <a:cs typeface="Cambria" pitchFamily="34" charset="-120"/>
              </a:rPr>
              <a:t>You have spent months forcing stretches.</a:t>
            </a:r>
            <a:endParaRPr lang="en-US" sz="2000" dirty="0"/>
          </a:p>
          <a:p>
            <a:pPr algn="ctr" indent="0" marL="0">
              <a:spcAft>
                <a:spcPts val="1000"/>
              </a:spcAft>
              <a:buNone/>
            </a:pPr>
            <a:r>
              <a:rPr lang="en-US" sz="2000" dirty="0">
                <a:solidFill>
                  <a:srgbClr val="FFFFFF"/>
                </a:solidFill>
                <a:latin typeface="Cambria" pitchFamily="34" charset="0"/>
                <a:ea typeface="Cambria" pitchFamily="34" charset="-122"/>
                <a:cs typeface="Cambria" pitchFamily="34" charset="-120"/>
              </a:rPr>
              <a:t>And your hips are just as tight as day one.</a:t>
            </a:r>
            <a:endParaRPr lang="en-US" sz="2000" dirty="0"/>
          </a:p>
        </p:txBody>
      </p:sp>
      <p:sp>
        <p:nvSpPr>
          <p:cNvPr id="8" name="Text 6"/>
          <p:cNvSpPr txBox="1"/>
          <p:nvPr/>
        </p:nvSpPr>
        <p:spPr>
          <a:xfrm>
            <a:off x="4414418" y="2148840"/>
            <a:ext cx="3362858" cy="274320"/>
          </a:xfrm>
          <a:prstGeom prst="rect">
            <a:avLst/>
          </a:prstGeom>
          <a:noFill/>
          <a:ln/>
        </p:spPr>
        <p:txBody>
          <a:bodyPr wrap="square" lIns="0" tIns="0" rIns="0" bIns="0" rtlCol="0" anchor="t"/>
          <a:lstStyle/>
          <a:p>
            <a:pPr indent="0" marL="0">
              <a:buNone/>
            </a:pPr>
            <a:r>
              <a:rPr lang="en-US" sz="1100" b="1" spc="150" kern="0" dirty="0">
                <a:solidFill>
                  <a:srgbClr val="B86F42"/>
                </a:solidFill>
                <a:latin typeface="Calibri" pitchFamily="34" charset="0"/>
                <a:ea typeface="Calibri" pitchFamily="34" charset="-122"/>
                <a:cs typeface="Calibri" pitchFamily="34" charset="-120"/>
              </a:rPr>
              <a:t>SLIDE 2 (THE AGITATION):</a:t>
            </a:r>
            <a:endParaRPr lang="en-US" sz="1100" dirty="0"/>
          </a:p>
        </p:txBody>
      </p:sp>
      <p:sp>
        <p:nvSpPr>
          <p:cNvPr id="9" name="Shape 7"/>
          <p:cNvSpPr/>
          <p:nvPr/>
        </p:nvSpPr>
        <p:spPr>
          <a:xfrm>
            <a:off x="4414418" y="2514600"/>
            <a:ext cx="3362858" cy="3566160"/>
          </a:xfrm>
          <a:prstGeom prst="rect">
            <a:avLst/>
          </a:prstGeom>
          <a:solidFill>
            <a:srgbClr val="000000"/>
          </a:solidFill>
          <a:ln w="6350">
            <a:solidFill>
              <a:srgbClr val="000000"/>
            </a:solidFill>
            <a:prstDash val="solid"/>
          </a:ln>
          <a:effectLst>
            <a:outerShdw sx="100000" sy="100000" kx="0" ky="0" algn="bl" rotWithShape="0" blurRad="127000" dist="25400" dir="5400000">
              <a:srgbClr val="000000">
                <a:alpha val="8000"/>
              </a:srgbClr>
            </a:outerShdw>
          </a:effectLst>
        </p:spPr>
      </p:sp>
      <p:sp>
        <p:nvSpPr>
          <p:cNvPr id="10" name="Text 8"/>
          <p:cNvSpPr txBox="1"/>
          <p:nvPr/>
        </p:nvSpPr>
        <p:spPr>
          <a:xfrm>
            <a:off x="4734458" y="2834640"/>
            <a:ext cx="2722778" cy="2926080"/>
          </a:xfrm>
          <a:prstGeom prst="rect">
            <a:avLst/>
          </a:prstGeom>
          <a:noFill/>
          <a:ln/>
        </p:spPr>
        <p:txBody>
          <a:bodyPr wrap="square" lIns="0" tIns="0" rIns="0" bIns="0" rtlCol="0" anchor="ctr"/>
          <a:lstStyle/>
          <a:p>
            <a:pPr algn="ctr" indent="0" marL="0">
              <a:spcAft>
                <a:spcPts val="1000"/>
              </a:spcAft>
              <a:buNone/>
            </a:pPr>
            <a:r>
              <a:rPr lang="en-US" sz="1450" dirty="0">
                <a:solidFill>
                  <a:srgbClr val="FFFFFF"/>
                </a:solidFill>
                <a:latin typeface="Cambria" pitchFamily="34" charset="0"/>
                <a:ea typeface="Cambria" pitchFamily="34" charset="-122"/>
                <a:cs typeface="Cambria" pitchFamily="34" charset="-120"/>
              </a:rPr>
              <a:t>It is not because you lack discipline or flexibility genetics.</a:t>
            </a:r>
            <a:endParaRPr lang="en-US" sz="1450" dirty="0"/>
          </a:p>
          <a:p>
            <a:pPr algn="ctr" indent="0" marL="0">
              <a:spcAft>
                <a:spcPts val="1000"/>
              </a:spcAft>
              <a:buNone/>
            </a:pPr>
            <a:r>
              <a:rPr lang="en-US" sz="1450" dirty="0">
                <a:solidFill>
                  <a:srgbClr val="FFFFFF"/>
                </a:solidFill>
                <a:latin typeface="Cambria" pitchFamily="34" charset="0"/>
                <a:ea typeface="Cambria" pitchFamily="34" charset="-122"/>
                <a:cs typeface="Cambria" pitchFamily="34" charset="-120"/>
              </a:rPr>
              <a:t>When you force a stretch, your nervous system registers danger and locks down your muscles to protect you.</a:t>
            </a:r>
            <a:endParaRPr lang="en-US" sz="1450" dirty="0"/>
          </a:p>
          <a:p>
            <a:pPr algn="ctr" indent="0" marL="0">
              <a:spcAft>
                <a:spcPts val="1000"/>
              </a:spcAft>
              <a:buNone/>
            </a:pPr>
            <a:r>
              <a:rPr lang="en-US" sz="1450" dirty="0">
                <a:solidFill>
                  <a:srgbClr val="FFFFFF"/>
                </a:solidFill>
                <a:latin typeface="Cambria" pitchFamily="34" charset="0"/>
                <a:ea typeface="Cambria" pitchFamily="34" charset="-122"/>
                <a:cs typeface="Cambria" pitchFamily="34" charset="-120"/>
              </a:rPr>
              <a:t>More force only creates more resistance. What you need is active control and neurological safety.</a:t>
            </a:r>
            <a:endParaRPr lang="en-US" sz="1450" dirty="0"/>
          </a:p>
        </p:txBody>
      </p:sp>
      <p:sp>
        <p:nvSpPr>
          <p:cNvPr id="11" name="Text 9"/>
          <p:cNvSpPr txBox="1"/>
          <p:nvPr/>
        </p:nvSpPr>
        <p:spPr>
          <a:xfrm>
            <a:off x="8143037" y="2148840"/>
            <a:ext cx="3362858" cy="274320"/>
          </a:xfrm>
          <a:prstGeom prst="rect">
            <a:avLst/>
          </a:prstGeom>
          <a:noFill/>
          <a:ln/>
        </p:spPr>
        <p:txBody>
          <a:bodyPr wrap="square" lIns="0" tIns="0" rIns="0" bIns="0" rtlCol="0" anchor="t"/>
          <a:lstStyle/>
          <a:p>
            <a:pPr indent="0" marL="0">
              <a:buNone/>
            </a:pPr>
            <a:r>
              <a:rPr lang="en-US" sz="1100" b="1" spc="150" kern="0" dirty="0">
                <a:solidFill>
                  <a:srgbClr val="B86F42"/>
                </a:solidFill>
                <a:latin typeface="Calibri" pitchFamily="34" charset="0"/>
                <a:ea typeface="Calibri" pitchFamily="34" charset="-122"/>
                <a:cs typeface="Calibri" pitchFamily="34" charset="-120"/>
              </a:rPr>
              <a:t>SLIDE 3 (CURIOSITY/CALL TO ACTION):</a:t>
            </a:r>
            <a:endParaRPr lang="en-US" sz="1100" dirty="0"/>
          </a:p>
        </p:txBody>
      </p:sp>
      <p:sp>
        <p:nvSpPr>
          <p:cNvPr id="12" name="Shape 10"/>
          <p:cNvSpPr/>
          <p:nvPr/>
        </p:nvSpPr>
        <p:spPr>
          <a:xfrm>
            <a:off x="8143037" y="2514600"/>
            <a:ext cx="3362858" cy="3566160"/>
          </a:xfrm>
          <a:prstGeom prst="rect">
            <a:avLst/>
          </a:prstGeom>
          <a:solidFill>
            <a:srgbClr val="000000"/>
          </a:solidFill>
          <a:ln w="6350">
            <a:solidFill>
              <a:srgbClr val="000000"/>
            </a:solidFill>
            <a:prstDash val="solid"/>
          </a:ln>
          <a:effectLst>
            <a:outerShdw sx="100000" sy="100000" kx="0" ky="0" algn="bl" rotWithShape="0" blurRad="127000" dist="25400" dir="5400000">
              <a:srgbClr val="000000">
                <a:alpha val="8000"/>
              </a:srgbClr>
            </a:outerShdw>
          </a:effectLst>
        </p:spPr>
      </p:sp>
      <p:sp>
        <p:nvSpPr>
          <p:cNvPr id="13" name="Text 11"/>
          <p:cNvSpPr txBox="1"/>
          <p:nvPr/>
        </p:nvSpPr>
        <p:spPr>
          <a:xfrm>
            <a:off x="8463077" y="2834640"/>
            <a:ext cx="2722778" cy="2926080"/>
          </a:xfrm>
          <a:prstGeom prst="rect">
            <a:avLst/>
          </a:prstGeom>
          <a:noFill/>
          <a:ln/>
        </p:spPr>
        <p:txBody>
          <a:bodyPr wrap="square" lIns="0" tIns="0" rIns="0" bIns="0" rtlCol="0" anchor="ctr"/>
          <a:lstStyle/>
          <a:p>
            <a:pPr algn="ctr" indent="0" marL="0">
              <a:spcAft>
                <a:spcPts val="1000"/>
              </a:spcAft>
              <a:buNone/>
            </a:pPr>
            <a:r>
              <a:rPr lang="en-US" sz="1600" dirty="0">
                <a:solidFill>
                  <a:srgbClr val="FFFFFF"/>
                </a:solidFill>
                <a:latin typeface="Cambria" pitchFamily="34" charset="0"/>
                <a:ea typeface="Cambria" pitchFamily="34" charset="-122"/>
                <a:cs typeface="Cambria" pitchFamily="34" charset="-120"/>
              </a:rPr>
              <a:t>I am putting together a small group of people who want to retrain their nervous system and unlock their splits safely in 12 weeks.</a:t>
            </a:r>
            <a:endParaRPr lang="en-US" sz="1600" dirty="0"/>
          </a:p>
          <a:p>
            <a:pPr algn="ctr" indent="0" marL="0">
              <a:spcAft>
                <a:spcPts val="1000"/>
              </a:spcAft>
              <a:buNone/>
            </a:pPr>
            <a:r>
              <a:rPr lang="en-US" sz="1600" dirty="0">
                <a:solidFill>
                  <a:srgbClr val="FFFFFF"/>
                </a:solidFill>
                <a:latin typeface="Cambria" pitchFamily="34" charset="0"/>
                <a:ea typeface="Cambria" pitchFamily="34" charset="-122"/>
                <a:cs typeface="Cambria" pitchFamily="34" charset="-120"/>
              </a:rPr>
              <a:t>Reply 'I WANT' if this resonates with you.</a:t>
            </a:r>
            <a:endParaRPr lang="en-US" sz="1600" dirty="0"/>
          </a:p>
        </p:txBody>
      </p:sp>
      <p:sp>
        <p:nvSpPr>
          <p:cNvPr id="14" name="Text 12"/>
          <p:cNvSpPr txBox="1"/>
          <p:nvPr/>
        </p:nvSpPr>
        <p:spPr>
          <a:xfrm>
            <a:off x="685800" y="6400800"/>
            <a:ext cx="7315200" cy="228600"/>
          </a:xfrm>
          <a:prstGeom prst="rect">
            <a:avLst/>
          </a:prstGeom>
          <a:noFill/>
          <a:ln/>
        </p:spPr>
        <p:txBody>
          <a:bodyPr wrap="square" lIns="0" tIns="0" rIns="0" bIns="0" rtlCol="0" anchor="t"/>
          <a:lstStyle/>
          <a:p>
            <a:pPr indent="0" marL="0">
              <a:buNone/>
            </a:pPr>
            <a:r>
              <a:rPr lang="en-US" sz="1000" dirty="0">
                <a:solidFill>
                  <a:srgbClr val="6B6F68"/>
                </a:solidFill>
                <a:latin typeface="Calibri" pitchFamily="34" charset="0"/>
                <a:ea typeface="Calibri" pitchFamily="34" charset="-122"/>
                <a:cs typeface="Calibri" pitchFamily="34" charset="-120"/>
              </a:rPr>
              <a:t>Monetisation Audit  ·  @lena_abuela</a:t>
            </a:r>
            <a:endParaRPr lang="en-US" sz="1000" dirty="0"/>
          </a:p>
        </p:txBody>
      </p:sp>
      <p:sp>
        <p:nvSpPr>
          <p:cNvPr id="15" name="Text 13"/>
          <p:cNvSpPr txBox="1"/>
          <p:nvPr/>
        </p:nvSpPr>
        <p:spPr>
          <a:xfrm>
            <a:off x="10591495" y="6400800"/>
            <a:ext cx="914400" cy="228600"/>
          </a:xfrm>
          <a:prstGeom prst="rect">
            <a:avLst/>
          </a:prstGeom>
          <a:noFill/>
          <a:ln/>
        </p:spPr>
        <p:txBody>
          <a:bodyPr wrap="square" lIns="0" tIns="0" rIns="0" bIns="0" rtlCol="0" anchor="t"/>
          <a:lstStyle/>
          <a:p>
            <a:pPr algn="r" indent="0" marL="0">
              <a:buNone/>
            </a:pPr>
            <a:r>
              <a:rPr lang="en-US" sz="1000" dirty="0">
                <a:solidFill>
                  <a:srgbClr val="6B6F6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Monetisation Audit: Milena (Milli) (@lena_abuela)</dc:title>
  <dc:subject>PptxGenJS Presentation</dc:subject>
  <dc:creator>PptxGenJS</dc:creator>
  <cp:lastModifiedBy>PptxGenJS</cp:lastModifiedBy>
  <cp:revision>1</cp:revision>
  <dcterms:created xsi:type="dcterms:W3CDTF">2026-10-06T17:42:41Z</dcterms:created>
  <dcterms:modified xsi:type="dcterms:W3CDTF">2026-10-06T17:42:41Z</dcterms:modified>
</cp:coreProperties>
</file>