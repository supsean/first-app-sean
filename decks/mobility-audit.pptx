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02B"/>
        </a:solidFill>
      </p:bgPr>
    </p:bg>
    <p:spTree>
      <p:nvGrpSpPr>
        <p:cNvPr id="1" name=""/>
        <p:cNvGrpSpPr/>
        <p:nvPr/>
      </p:nvGrpSpPr>
      <p:grpSpPr>
        <a:xfrm>
          <a:off x="0" y="0"/>
          <a:ext cx="0" cy="0"/>
          <a:chOff x="0" y="0"/>
          <a:chExt cx="0" cy="0"/>
        </a:xfrm>
      </p:grpSpPr>
      <p:sp>
        <p:nvSpPr>
          <p:cNvPr id="2" name="Shape 0"/>
          <p:cNvSpPr/>
          <p:nvPr/>
        </p:nvSpPr>
        <p:spPr>
          <a:xfrm>
            <a:off x="8503920" y="-1554480"/>
            <a:ext cx="5852160" cy="5852160"/>
          </a:xfrm>
          <a:prstGeom prst="ellipse">
            <a:avLst/>
          </a:prstGeom>
          <a:solidFill>
            <a:srgbClr val="1E8077">
              <a:alpha val="16000"/>
            </a:srgbClr>
          </a:solidFill>
          <a:ln w="6350">
            <a:solidFill>
              <a:srgbClr val="1E8077">
                <a:alpha val="30000"/>
              </a:srgbClr>
            </a:solidFill>
            <a:prstDash val="solid"/>
          </a:ln>
        </p:spPr>
      </p:sp>
      <p:sp>
        <p:nvSpPr>
          <p:cNvPr id="3" name="Shape 1"/>
          <p:cNvSpPr/>
          <p:nvPr/>
        </p:nvSpPr>
        <p:spPr>
          <a:xfrm>
            <a:off x="9875520" y="3383280"/>
            <a:ext cx="3108960" cy="3108960"/>
          </a:xfrm>
          <a:prstGeom prst="ellipse">
            <a:avLst/>
          </a:prstGeom>
          <a:solidFill>
            <a:srgbClr val="1E8077">
              <a:alpha val="10000"/>
            </a:srgbClr>
          </a:solidFill>
          <a:ln w="6350">
            <a:solidFill>
              <a:srgbClr val="15202B"/>
            </a:solidFill>
            <a:prstDash val="solid"/>
          </a:ln>
        </p:spPr>
      </p:sp>
      <p:sp>
        <p:nvSpPr>
          <p:cNvPr id="4" name="Text 2"/>
          <p:cNvSpPr txBox="1"/>
          <p:nvPr/>
        </p:nvSpPr>
        <p:spPr>
          <a:xfrm>
            <a:off x="685800" y="1783080"/>
            <a:ext cx="7315200" cy="274320"/>
          </a:xfrm>
          <a:prstGeom prst="rect">
            <a:avLst/>
          </a:prstGeom>
          <a:noFill/>
          <a:ln/>
        </p:spPr>
        <p:txBody>
          <a:bodyPr wrap="square" lIns="0" tIns="0" rIns="0" bIns="0" rtlCol="0" anchor="ctr"/>
          <a:lstStyle/>
          <a:p>
            <a:pPr indent="0" marL="0">
              <a:buNone/>
            </a:pPr>
            <a:r>
              <a:rPr lang="en-US" sz="1400" b="1" spc="400" kern="0" dirty="0">
                <a:solidFill>
                  <a:srgbClr val="1E8077"/>
                </a:solidFill>
                <a:latin typeface="Calibri" pitchFamily="34" charset="0"/>
                <a:ea typeface="Calibri" pitchFamily="34" charset="-122"/>
                <a:cs typeface="Calibri" pitchFamily="34" charset="-120"/>
              </a:rPr>
              <a:t>MONETISATION AUDIT</a:t>
            </a:r>
            <a:endParaRPr lang="en-US" sz="1400" dirty="0"/>
          </a:p>
        </p:txBody>
      </p:sp>
      <p:sp>
        <p:nvSpPr>
          <p:cNvPr id="5" name="Text 3"/>
          <p:cNvSpPr txBox="1"/>
          <p:nvPr/>
        </p:nvSpPr>
        <p:spPr>
          <a:xfrm>
            <a:off x="685800" y="2194560"/>
            <a:ext cx="7863840" cy="1737360"/>
          </a:xfrm>
          <a:prstGeom prst="rect">
            <a:avLst/>
          </a:prstGeom>
          <a:noFill/>
          <a:ln/>
        </p:spPr>
        <p:txBody>
          <a:bodyPr wrap="square" lIns="0" tIns="0" rIns="0" bIns="0" rtlCol="0" anchor="t"/>
          <a:lstStyle/>
          <a:p>
            <a:pPr indent="0" marL="0">
              <a:lnSpc>
                <a:spcPct val="100000"/>
              </a:lnSpc>
              <a:buNone/>
            </a:pPr>
            <a:r>
              <a:rPr lang="en-US" sz="5200" b="1" dirty="0">
                <a:solidFill>
                  <a:srgbClr val="FFFFFF"/>
                </a:solidFill>
                <a:latin typeface="Arial" pitchFamily="34" charset="0"/>
                <a:ea typeface="Arial" pitchFamily="34" charset="-122"/>
                <a:cs typeface="Arial" pitchFamily="34" charset="-120"/>
              </a:rPr>
              <a:t>Your premium program gameplan</a:t>
            </a:r>
            <a:endParaRPr lang="en-US" sz="5200" dirty="0"/>
          </a:p>
        </p:txBody>
      </p:sp>
      <p:sp>
        <p:nvSpPr>
          <p:cNvPr id="6" name="Text 4"/>
          <p:cNvSpPr txBox="1"/>
          <p:nvPr/>
        </p:nvSpPr>
        <p:spPr>
          <a:xfrm>
            <a:off x="685800" y="4069080"/>
            <a:ext cx="7132320" cy="731520"/>
          </a:xfrm>
          <a:prstGeom prst="rect">
            <a:avLst/>
          </a:prstGeom>
          <a:noFill/>
          <a:ln/>
        </p:spPr>
        <p:txBody>
          <a:bodyPr wrap="square" lIns="0" tIns="0" rIns="0" bIns="0" rtlCol="0" anchor="t"/>
          <a:lstStyle/>
          <a:p>
            <a:pPr indent="0" marL="0">
              <a:buNone/>
            </a:pPr>
            <a:r>
              <a:rPr lang="en-US" sz="1700" dirty="0">
                <a:solidFill>
                  <a:srgbClr val="A7B4BF"/>
                </a:solidFill>
                <a:latin typeface="Calibri" pitchFamily="34" charset="0"/>
                <a:ea typeface="Calibri" pitchFamily="34" charset="-122"/>
                <a:cs typeface="Calibri" pitchFamily="34" charset="-120"/>
              </a:rPr>
              <a:t>The numbers, three product paths, the launch plan, and a test to validate demand.</a:t>
            </a:r>
            <a:endParaRPr lang="en-US" sz="1700" dirty="0"/>
          </a:p>
        </p:txBody>
      </p:sp>
      <p:sp>
        <p:nvSpPr>
          <p:cNvPr id="7" name="Text 5"/>
          <p:cNvSpPr txBox="1"/>
          <p:nvPr/>
        </p:nvSpPr>
        <p:spPr>
          <a:xfrm>
            <a:off x="685800" y="5852160"/>
            <a:ext cx="7315200" cy="274320"/>
          </a:xfrm>
          <a:prstGeom prst="rect">
            <a:avLst/>
          </a:prstGeom>
          <a:noFill/>
          <a:ln/>
        </p:spPr>
        <p:txBody>
          <a:bodyPr wrap="square" lIns="0" tIns="0" rIns="0" bIns="0" rtlCol="0" anchor="ctr"/>
          <a:lstStyle/>
          <a:p>
            <a:pPr indent="0" marL="0">
              <a:buNone/>
            </a:pPr>
            <a:r>
              <a:rPr lang="en-US" sz="1200" dirty="0">
                <a:solidFill>
                  <a:srgbClr val="A7B4BF"/>
                </a:solidFill>
                <a:latin typeface="Calibri" pitchFamily="34" charset="0"/>
                <a:ea typeface="Calibri" pitchFamily="34" charset="-122"/>
                <a:cs typeface="Calibri" pitchFamily="34" charset="-120"/>
              </a:rPr>
              <a:t>Prepared by Sean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56032"/>
          </a:xfrm>
          <a:prstGeom prst="rect">
            <a:avLst/>
          </a:prstGeom>
          <a:noFill/>
          <a:ln/>
        </p:spPr>
        <p:txBody>
          <a:bodyPr wrap="square" lIns="0" tIns="0" rIns="0" bIns="0" rtlCol="0" anchor="ctr"/>
          <a:lstStyle/>
          <a:p>
            <a:pPr indent="0" marL="0">
              <a:buNone/>
            </a:pPr>
            <a:r>
              <a:rPr lang="en-US" sz="1200" b="1" spc="200" kern="0" dirty="0">
                <a:solidFill>
                  <a:srgbClr val="1E8077"/>
                </a:solidFill>
                <a:latin typeface="Calibri" pitchFamily="34" charset="0"/>
                <a:ea typeface="Calibri" pitchFamily="34" charset="-122"/>
                <a:cs typeface="Calibri" pitchFamily="34" charset="-120"/>
              </a:rPr>
              <a:t>01   THE NUMBERS</a:t>
            </a:r>
            <a:endParaRPr lang="en-US" sz="1200" dirty="0"/>
          </a:p>
        </p:txBody>
      </p:sp>
      <p:sp>
        <p:nvSpPr>
          <p:cNvPr id="3" name="Text 1"/>
          <p:cNvSpPr txBox="1"/>
          <p:nvPr/>
        </p:nvSpPr>
        <p:spPr>
          <a:xfrm>
            <a:off x="685800" y="768096"/>
            <a:ext cx="10820095" cy="640080"/>
          </a:xfrm>
          <a:prstGeom prst="rect">
            <a:avLst/>
          </a:prstGeom>
          <a:noFill/>
          <a:ln/>
        </p:spPr>
        <p:txBody>
          <a:bodyPr wrap="square" lIns="0" tIns="0" rIns="0" bIns="0" rtlCol="0" anchor="t"/>
          <a:lstStyle/>
          <a:p>
            <a:pPr indent="0" marL="0">
              <a:buNone/>
            </a:pPr>
            <a:r>
              <a:rPr lang="en-US" sz="3200" b="1" dirty="0">
                <a:solidFill>
                  <a:srgbClr val="15202B"/>
                </a:solidFill>
                <a:latin typeface="Arial" pitchFamily="34" charset="0"/>
                <a:ea typeface="Arial" pitchFamily="34" charset="-122"/>
                <a:cs typeface="Arial" pitchFamily="34" charset="-120"/>
              </a:rPr>
              <a:t>What a small, premium cohort is worth</a:t>
            </a:r>
            <a:endParaRPr lang="en-US" sz="3200" dirty="0"/>
          </a:p>
        </p:txBody>
      </p:sp>
      <p:sp>
        <p:nvSpPr>
          <p:cNvPr id="4" name="Shape 2"/>
          <p:cNvSpPr/>
          <p:nvPr/>
        </p:nvSpPr>
        <p:spPr>
          <a:xfrm>
            <a:off x="685800" y="1828800"/>
            <a:ext cx="3301898" cy="1737360"/>
          </a:xfrm>
          <a:prstGeom prst="roundRect">
            <a:avLst>
              <a:gd name="adj" fmla="val 4737"/>
            </a:avLst>
          </a:prstGeom>
          <a:solidFill>
            <a:srgbClr val="F0F4F5"/>
          </a:solidFill>
          <a:ln w="6350">
            <a:solidFill>
              <a:srgbClr val="F0F4F5"/>
            </a:solidFill>
            <a:prstDash val="solid"/>
          </a:ln>
          <a:effectLst>
            <a:outerShdw sx="100000" sy="100000" kx="0" ky="0" algn="bl" rotWithShape="0" blurRad="152400" dist="25400" dir="5400000">
              <a:srgbClr val="000000">
                <a:alpha val="8000"/>
              </a:srgbClr>
            </a:outerShdw>
          </a:effectLst>
        </p:spPr>
      </p:sp>
      <p:sp>
        <p:nvSpPr>
          <p:cNvPr id="5" name="Text 3"/>
          <p:cNvSpPr txBox="1"/>
          <p:nvPr/>
        </p:nvSpPr>
        <p:spPr>
          <a:xfrm>
            <a:off x="1051560" y="2121408"/>
            <a:ext cx="2570378" cy="640080"/>
          </a:xfrm>
          <a:prstGeom prst="rect">
            <a:avLst/>
          </a:prstGeom>
          <a:noFill/>
          <a:ln/>
        </p:spPr>
        <p:txBody>
          <a:bodyPr wrap="square" lIns="0" tIns="0" rIns="0" bIns="0" rtlCol="0" anchor="ctr"/>
          <a:lstStyle/>
          <a:p>
            <a:pPr indent="0" marL="0">
              <a:buNone/>
            </a:pPr>
            <a:r>
              <a:rPr lang="en-US" sz="4000" b="1" dirty="0">
                <a:solidFill>
                  <a:srgbClr val="1E8077"/>
                </a:solidFill>
                <a:latin typeface="Arial" pitchFamily="34" charset="0"/>
                <a:ea typeface="Arial" pitchFamily="34" charset="-122"/>
                <a:cs typeface="Arial" pitchFamily="34" charset="-120"/>
              </a:rPr>
              <a:t>747</a:t>
            </a:r>
            <a:endParaRPr lang="en-US" sz="4000" dirty="0"/>
          </a:p>
        </p:txBody>
      </p:sp>
      <p:sp>
        <p:nvSpPr>
          <p:cNvPr id="6" name="Text 4"/>
          <p:cNvSpPr txBox="1"/>
          <p:nvPr/>
        </p:nvSpPr>
        <p:spPr>
          <a:xfrm>
            <a:off x="1051560" y="2834640"/>
            <a:ext cx="2570378" cy="274320"/>
          </a:xfrm>
          <a:prstGeom prst="rect">
            <a:avLst/>
          </a:prstGeom>
          <a:noFill/>
          <a:ln/>
        </p:spPr>
        <p:txBody>
          <a:bodyPr wrap="square" lIns="0" tIns="0" rIns="0" bIns="0" rtlCol="0" anchor="ctr"/>
          <a:lstStyle/>
          <a:p>
            <a:pPr indent="0" marL="0">
              <a:buNone/>
            </a:pPr>
            <a:r>
              <a:rPr lang="en-US" sz="1400" b="1" dirty="0">
                <a:solidFill>
                  <a:srgbClr val="15202B"/>
                </a:solidFill>
                <a:latin typeface="Calibri" pitchFamily="34" charset="0"/>
                <a:ea typeface="Calibri" pitchFamily="34" charset="-122"/>
                <a:cs typeface="Calibri" pitchFamily="34" charset="-120"/>
              </a:rPr>
              <a:t>Engaged Audience</a:t>
            </a:r>
            <a:endParaRPr lang="en-US" sz="1400" dirty="0"/>
          </a:p>
        </p:txBody>
      </p:sp>
      <p:sp>
        <p:nvSpPr>
          <p:cNvPr id="7" name="Text 5"/>
          <p:cNvSpPr txBox="1"/>
          <p:nvPr/>
        </p:nvSpPr>
        <p:spPr>
          <a:xfrm>
            <a:off x="1051560" y="3127248"/>
            <a:ext cx="2570378" cy="256032"/>
          </a:xfrm>
          <a:prstGeom prst="rect">
            <a:avLst/>
          </a:prstGeom>
          <a:noFill/>
          <a:ln/>
        </p:spPr>
        <p:txBody>
          <a:bodyPr wrap="square" lIns="0" tIns="0" rIns="0" bIns="0" rtlCol="0" anchor="ctr"/>
          <a:lstStyle/>
          <a:p>
            <a:pPr indent="0" marL="0">
              <a:buNone/>
            </a:pPr>
            <a:r>
              <a:rPr lang="en-US" sz="1200" dirty="0">
                <a:solidFill>
                  <a:srgbClr val="5B6670"/>
                </a:solidFill>
                <a:latin typeface="Calibri" pitchFamily="34" charset="0"/>
                <a:ea typeface="Calibri" pitchFamily="34" charset="-122"/>
                <a:cs typeface="Calibri" pitchFamily="34" charset="-120"/>
              </a:rPr>
              <a:t>5% market premise</a:t>
            </a:r>
            <a:endParaRPr lang="en-US" sz="1200" dirty="0"/>
          </a:p>
        </p:txBody>
      </p:sp>
      <p:sp>
        <p:nvSpPr>
          <p:cNvPr id="8" name="Text 6"/>
          <p:cNvSpPr txBox="1"/>
          <p:nvPr/>
        </p:nvSpPr>
        <p:spPr>
          <a:xfrm>
            <a:off x="3987698" y="2468880"/>
            <a:ext cx="457200" cy="457200"/>
          </a:xfrm>
          <a:prstGeom prst="rect">
            <a:avLst/>
          </a:prstGeom>
          <a:noFill/>
          <a:ln/>
        </p:spPr>
        <p:txBody>
          <a:bodyPr wrap="square" lIns="0" tIns="0" rIns="0" bIns="0" rtlCol="0" anchor="ctr"/>
          <a:lstStyle/>
          <a:p>
            <a:pPr algn="ctr" indent="0" marL="0">
              <a:buNone/>
            </a:pPr>
            <a:r>
              <a:rPr lang="en-US" sz="2000" dirty="0">
                <a:solidFill>
                  <a:srgbClr val="1E8077"/>
                </a:solidFill>
                <a:latin typeface="Arial" pitchFamily="34" charset="0"/>
                <a:ea typeface="Arial" pitchFamily="34" charset="-122"/>
                <a:cs typeface="Arial" pitchFamily="34" charset="-120"/>
              </a:rPr>
              <a:t>→</a:t>
            </a:r>
            <a:endParaRPr lang="en-US" sz="2000" dirty="0"/>
          </a:p>
        </p:txBody>
      </p:sp>
      <p:sp>
        <p:nvSpPr>
          <p:cNvPr id="9" name="Shape 7"/>
          <p:cNvSpPr/>
          <p:nvPr/>
        </p:nvSpPr>
        <p:spPr>
          <a:xfrm>
            <a:off x="4444898" y="1828800"/>
            <a:ext cx="3301898" cy="1737360"/>
          </a:xfrm>
          <a:prstGeom prst="roundRect">
            <a:avLst>
              <a:gd name="adj" fmla="val 4737"/>
            </a:avLst>
          </a:prstGeom>
          <a:solidFill>
            <a:srgbClr val="F0F4F5"/>
          </a:solidFill>
          <a:ln w="6350">
            <a:solidFill>
              <a:srgbClr val="F0F4F5"/>
            </a:solidFill>
            <a:prstDash val="solid"/>
          </a:ln>
          <a:effectLst>
            <a:outerShdw sx="100000" sy="100000" kx="0" ky="0" algn="bl" rotWithShape="0" blurRad="152400" dist="25400" dir="5400000">
              <a:srgbClr val="000000">
                <a:alpha val="8000"/>
              </a:srgbClr>
            </a:outerShdw>
          </a:effectLst>
        </p:spPr>
      </p:sp>
      <p:sp>
        <p:nvSpPr>
          <p:cNvPr id="10" name="Text 8"/>
          <p:cNvSpPr txBox="1"/>
          <p:nvPr/>
        </p:nvSpPr>
        <p:spPr>
          <a:xfrm>
            <a:off x="4810658" y="2121408"/>
            <a:ext cx="2570378" cy="640080"/>
          </a:xfrm>
          <a:prstGeom prst="rect">
            <a:avLst/>
          </a:prstGeom>
          <a:noFill/>
          <a:ln/>
        </p:spPr>
        <p:txBody>
          <a:bodyPr wrap="square" lIns="0" tIns="0" rIns="0" bIns="0" rtlCol="0" anchor="ctr"/>
          <a:lstStyle/>
          <a:p>
            <a:pPr indent="0" marL="0">
              <a:buNone/>
            </a:pPr>
            <a:r>
              <a:rPr lang="en-US" sz="4000" b="1" dirty="0">
                <a:solidFill>
                  <a:srgbClr val="1E8077"/>
                </a:solidFill>
                <a:latin typeface="Arial" pitchFamily="34" charset="0"/>
                <a:ea typeface="Arial" pitchFamily="34" charset="-122"/>
                <a:cs typeface="Arial" pitchFamily="34" charset="-120"/>
              </a:rPr>
              <a:t>20</a:t>
            </a:r>
            <a:endParaRPr lang="en-US" sz="4000" dirty="0"/>
          </a:p>
        </p:txBody>
      </p:sp>
      <p:sp>
        <p:nvSpPr>
          <p:cNvPr id="11" name="Text 9"/>
          <p:cNvSpPr txBox="1"/>
          <p:nvPr/>
        </p:nvSpPr>
        <p:spPr>
          <a:xfrm>
            <a:off x="4810658" y="2834640"/>
            <a:ext cx="2570378" cy="274320"/>
          </a:xfrm>
          <a:prstGeom prst="rect">
            <a:avLst/>
          </a:prstGeom>
          <a:noFill/>
          <a:ln/>
        </p:spPr>
        <p:txBody>
          <a:bodyPr wrap="square" lIns="0" tIns="0" rIns="0" bIns="0" rtlCol="0" anchor="ctr"/>
          <a:lstStyle/>
          <a:p>
            <a:pPr indent="0" marL="0">
              <a:buNone/>
            </a:pPr>
            <a:r>
              <a:rPr lang="en-US" sz="1400" b="1" dirty="0">
                <a:solidFill>
                  <a:srgbClr val="15202B"/>
                </a:solidFill>
                <a:latin typeface="Calibri" pitchFamily="34" charset="0"/>
                <a:ea typeface="Calibri" pitchFamily="34" charset="-122"/>
                <a:cs typeface="Calibri" pitchFamily="34" charset="-120"/>
              </a:rPr>
              <a:t>Program Spots</a:t>
            </a:r>
            <a:endParaRPr lang="en-US" sz="1400" dirty="0"/>
          </a:p>
        </p:txBody>
      </p:sp>
      <p:sp>
        <p:nvSpPr>
          <p:cNvPr id="12" name="Text 10"/>
          <p:cNvSpPr txBox="1"/>
          <p:nvPr/>
        </p:nvSpPr>
        <p:spPr>
          <a:xfrm>
            <a:off x="4810658" y="3127248"/>
            <a:ext cx="2570378" cy="256032"/>
          </a:xfrm>
          <a:prstGeom prst="rect">
            <a:avLst/>
          </a:prstGeom>
          <a:noFill/>
          <a:ln/>
        </p:spPr>
        <p:txBody>
          <a:bodyPr wrap="square" lIns="0" tIns="0" rIns="0" bIns="0" rtlCol="0" anchor="ctr"/>
          <a:lstStyle/>
          <a:p>
            <a:pPr indent="0" marL="0">
              <a:buNone/>
            </a:pPr>
            <a:r>
              <a:rPr lang="en-US" sz="1200" dirty="0">
                <a:solidFill>
                  <a:srgbClr val="5B6670"/>
                </a:solidFill>
                <a:latin typeface="Calibri" pitchFamily="34" charset="0"/>
                <a:ea typeface="Calibri" pitchFamily="34" charset="-122"/>
                <a:cs typeface="Calibri" pitchFamily="34" charset="-120"/>
              </a:rPr>
              <a:t>Deliberately limited</a:t>
            </a:r>
            <a:endParaRPr lang="en-US" sz="1200" dirty="0"/>
          </a:p>
        </p:txBody>
      </p:sp>
      <p:sp>
        <p:nvSpPr>
          <p:cNvPr id="13" name="Text 11"/>
          <p:cNvSpPr txBox="1"/>
          <p:nvPr/>
        </p:nvSpPr>
        <p:spPr>
          <a:xfrm>
            <a:off x="7746797" y="2468880"/>
            <a:ext cx="457200" cy="457200"/>
          </a:xfrm>
          <a:prstGeom prst="rect">
            <a:avLst/>
          </a:prstGeom>
          <a:noFill/>
          <a:ln/>
        </p:spPr>
        <p:txBody>
          <a:bodyPr wrap="square" lIns="0" tIns="0" rIns="0" bIns="0" rtlCol="0" anchor="ctr"/>
          <a:lstStyle/>
          <a:p>
            <a:pPr algn="ctr" indent="0" marL="0">
              <a:buNone/>
            </a:pPr>
            <a:r>
              <a:rPr lang="en-US" sz="2000" dirty="0">
                <a:solidFill>
                  <a:srgbClr val="1E8077"/>
                </a:solidFill>
                <a:latin typeface="Arial" pitchFamily="34" charset="0"/>
                <a:ea typeface="Arial" pitchFamily="34" charset="-122"/>
                <a:cs typeface="Arial" pitchFamily="34" charset="-120"/>
              </a:rPr>
              <a:t>→</a:t>
            </a:r>
            <a:endParaRPr lang="en-US" sz="2000" dirty="0"/>
          </a:p>
        </p:txBody>
      </p:sp>
      <p:sp>
        <p:nvSpPr>
          <p:cNvPr id="14" name="Shape 12"/>
          <p:cNvSpPr/>
          <p:nvPr/>
        </p:nvSpPr>
        <p:spPr>
          <a:xfrm>
            <a:off x="8203997" y="1828800"/>
            <a:ext cx="3301898" cy="1737360"/>
          </a:xfrm>
          <a:prstGeom prst="roundRect">
            <a:avLst>
              <a:gd name="adj" fmla="val 4737"/>
            </a:avLst>
          </a:prstGeom>
          <a:solidFill>
            <a:srgbClr val="F0F4F5"/>
          </a:solidFill>
          <a:ln w="6350">
            <a:solidFill>
              <a:srgbClr val="F0F4F5"/>
            </a:solidFill>
            <a:prstDash val="solid"/>
          </a:ln>
          <a:effectLst>
            <a:outerShdw sx="100000" sy="100000" kx="0" ky="0" algn="bl" rotWithShape="0" blurRad="152400" dist="25400" dir="5400000">
              <a:srgbClr val="000000">
                <a:alpha val="8000"/>
              </a:srgbClr>
            </a:outerShdw>
          </a:effectLst>
        </p:spPr>
      </p:sp>
      <p:sp>
        <p:nvSpPr>
          <p:cNvPr id="15" name="Text 13"/>
          <p:cNvSpPr txBox="1"/>
          <p:nvPr/>
        </p:nvSpPr>
        <p:spPr>
          <a:xfrm>
            <a:off x="8569757" y="2121408"/>
            <a:ext cx="2570378" cy="640080"/>
          </a:xfrm>
          <a:prstGeom prst="rect">
            <a:avLst/>
          </a:prstGeom>
          <a:noFill/>
          <a:ln/>
        </p:spPr>
        <p:txBody>
          <a:bodyPr wrap="square" lIns="0" tIns="0" rIns="0" bIns="0" rtlCol="0" anchor="ctr"/>
          <a:lstStyle/>
          <a:p>
            <a:pPr indent="0" marL="0">
              <a:buNone/>
            </a:pPr>
            <a:r>
              <a:rPr lang="en-US" sz="4000" b="1" dirty="0">
                <a:solidFill>
                  <a:srgbClr val="1E8077"/>
                </a:solidFill>
                <a:latin typeface="Arial" pitchFamily="34" charset="0"/>
                <a:ea typeface="Arial" pitchFamily="34" charset="-122"/>
                <a:cs typeface="Arial" pitchFamily="34" charset="-120"/>
              </a:rPr>
              <a:t>$1,500</a:t>
            </a:r>
            <a:endParaRPr lang="en-US" sz="4000" dirty="0"/>
          </a:p>
        </p:txBody>
      </p:sp>
      <p:sp>
        <p:nvSpPr>
          <p:cNvPr id="16" name="Text 14"/>
          <p:cNvSpPr txBox="1"/>
          <p:nvPr/>
        </p:nvSpPr>
        <p:spPr>
          <a:xfrm>
            <a:off x="8569757" y="2834640"/>
            <a:ext cx="2570378" cy="274320"/>
          </a:xfrm>
          <a:prstGeom prst="rect">
            <a:avLst/>
          </a:prstGeom>
          <a:noFill/>
          <a:ln/>
        </p:spPr>
        <p:txBody>
          <a:bodyPr wrap="square" lIns="0" tIns="0" rIns="0" bIns="0" rtlCol="0" anchor="ctr"/>
          <a:lstStyle/>
          <a:p>
            <a:pPr indent="0" marL="0">
              <a:buNone/>
            </a:pPr>
            <a:r>
              <a:rPr lang="en-US" sz="1400" b="1" dirty="0">
                <a:solidFill>
                  <a:srgbClr val="15202B"/>
                </a:solidFill>
                <a:latin typeface="Calibri" pitchFamily="34" charset="0"/>
                <a:ea typeface="Calibri" pitchFamily="34" charset="-122"/>
                <a:cs typeface="Calibri" pitchFamily="34" charset="-120"/>
              </a:rPr>
              <a:t>Product Price</a:t>
            </a:r>
            <a:endParaRPr lang="en-US" sz="1400" dirty="0"/>
          </a:p>
        </p:txBody>
      </p:sp>
      <p:sp>
        <p:nvSpPr>
          <p:cNvPr id="17" name="Text 15"/>
          <p:cNvSpPr txBox="1"/>
          <p:nvPr/>
        </p:nvSpPr>
        <p:spPr>
          <a:xfrm>
            <a:off x="685800" y="3977640"/>
            <a:ext cx="3657600" cy="256032"/>
          </a:xfrm>
          <a:prstGeom prst="rect">
            <a:avLst/>
          </a:prstGeom>
          <a:noFill/>
          <a:ln/>
        </p:spPr>
        <p:txBody>
          <a:bodyPr wrap="square" lIns="0" tIns="0" rIns="0" bIns="0" rtlCol="0" anchor="ctr"/>
          <a:lstStyle/>
          <a:p>
            <a:pPr indent="0" marL="0">
              <a:buNone/>
            </a:pPr>
            <a:r>
              <a:rPr lang="en-US" sz="1100" b="1" spc="200" kern="0" dirty="0">
                <a:solidFill>
                  <a:srgbClr val="1E8077"/>
                </a:solidFill>
                <a:latin typeface="Calibri" pitchFamily="34" charset="0"/>
                <a:ea typeface="Calibri" pitchFamily="34" charset="-122"/>
                <a:cs typeface="Calibri" pitchFamily="34" charset="-120"/>
              </a:rPr>
              <a:t>THE MATH</a:t>
            </a:r>
            <a:endParaRPr lang="en-US" sz="1100" dirty="0"/>
          </a:p>
        </p:txBody>
      </p:sp>
      <p:sp>
        <p:nvSpPr>
          <p:cNvPr id="18" name="Shape 16"/>
          <p:cNvSpPr/>
          <p:nvPr/>
        </p:nvSpPr>
        <p:spPr>
          <a:xfrm>
            <a:off x="685800" y="4343400"/>
            <a:ext cx="10820095" cy="1005840"/>
          </a:xfrm>
          <a:prstGeom prst="roundRect">
            <a:avLst>
              <a:gd name="adj" fmla="val 8182"/>
            </a:avLst>
          </a:prstGeom>
          <a:solidFill>
            <a:srgbClr val="DCEDEB"/>
          </a:solidFill>
          <a:ln w="6350">
            <a:solidFill>
              <a:srgbClr val="DCEDEB"/>
            </a:solidFill>
            <a:prstDash val="solid"/>
          </a:ln>
          <a:effectLst>
            <a:outerShdw sx="100000" sy="100000" kx="0" ky="0" algn="bl" rotWithShape="0" blurRad="152400" dist="25400" dir="5400000">
              <a:srgbClr val="000000">
                <a:alpha val="8000"/>
              </a:srgbClr>
            </a:outerShdw>
          </a:effectLst>
        </p:spPr>
      </p:sp>
      <p:sp>
        <p:nvSpPr>
          <p:cNvPr id="19" name="Text 17"/>
          <p:cNvSpPr txBox="1"/>
          <p:nvPr/>
        </p:nvSpPr>
        <p:spPr>
          <a:xfrm>
            <a:off x="1143000" y="4343400"/>
            <a:ext cx="5486400" cy="1005840"/>
          </a:xfrm>
          <a:prstGeom prst="rect">
            <a:avLst/>
          </a:prstGeom>
          <a:noFill/>
          <a:ln/>
        </p:spPr>
        <p:txBody>
          <a:bodyPr wrap="square" lIns="0" tIns="0" rIns="0" bIns="0" rtlCol="0" anchor="ctr"/>
          <a:lstStyle/>
          <a:p>
            <a:pPr indent="0" marL="0">
              <a:buNone/>
            </a:pPr>
            <a:r>
              <a:rPr lang="en-US" sz="2600" b="1" dirty="0">
                <a:solidFill>
                  <a:srgbClr val="15202B"/>
                </a:solidFill>
                <a:latin typeface="Arial" pitchFamily="34" charset="0"/>
                <a:ea typeface="Arial" pitchFamily="34" charset="-122"/>
                <a:cs typeface="Arial" pitchFamily="34" charset="-120"/>
              </a:rPr>
              <a:t>20 spots  ×  $1,500</a:t>
            </a:r>
            <a:endParaRPr lang="en-US" sz="2600" dirty="0"/>
          </a:p>
        </p:txBody>
      </p:sp>
      <p:sp>
        <p:nvSpPr>
          <p:cNvPr id="20" name="Text 18"/>
          <p:cNvSpPr txBox="1"/>
          <p:nvPr/>
        </p:nvSpPr>
        <p:spPr>
          <a:xfrm>
            <a:off x="6933895" y="4343400"/>
            <a:ext cx="4114800" cy="1005840"/>
          </a:xfrm>
          <a:prstGeom prst="rect">
            <a:avLst/>
          </a:prstGeom>
          <a:noFill/>
          <a:ln/>
        </p:spPr>
        <p:txBody>
          <a:bodyPr wrap="square" lIns="0" tIns="0" rIns="0" bIns="0" rtlCol="0" anchor="ctr"/>
          <a:lstStyle/>
          <a:p>
            <a:pPr algn="r" indent="0" marL="0">
              <a:buNone/>
            </a:pPr>
            <a:r>
              <a:rPr lang="en-US" sz="3400" b="1" dirty="0">
                <a:solidFill>
                  <a:srgbClr val="1E8077"/>
                </a:solidFill>
                <a:latin typeface="Arial" pitchFamily="34" charset="0"/>
                <a:ea typeface="Arial" pitchFamily="34" charset="-122"/>
                <a:cs typeface="Arial" pitchFamily="34" charset="-120"/>
              </a:rPr>
              <a:t>= $30,000</a:t>
            </a:r>
            <a:endParaRPr lang="en-US" sz="3400" dirty="0"/>
          </a:p>
        </p:txBody>
      </p:sp>
      <p:sp>
        <p:nvSpPr>
          <p:cNvPr id="21" name="Text 19"/>
          <p:cNvSpPr txBox="1"/>
          <p:nvPr/>
        </p:nvSpPr>
        <p:spPr>
          <a:xfrm>
            <a:off x="685800" y="6355080"/>
            <a:ext cx="5486400" cy="228600"/>
          </a:xfrm>
          <a:prstGeom prst="rect">
            <a:avLst/>
          </a:prstGeom>
          <a:noFill/>
          <a:ln/>
        </p:spPr>
        <p:txBody>
          <a:bodyPr wrap="square" lIns="0" tIns="0" rIns="0" bIns="0" rtlCol="0" anchor="ctr"/>
          <a:lstStyle/>
          <a:p>
            <a:pPr indent="0" marL="0">
              <a:buNone/>
            </a:pPr>
            <a:r>
              <a:rPr lang="en-US" sz="1000" dirty="0">
                <a:solidFill>
                  <a:srgbClr val="5B6670"/>
                </a:solidFill>
                <a:latin typeface="Calibri" pitchFamily="34" charset="0"/>
                <a:ea typeface="Calibri" pitchFamily="34" charset="-122"/>
                <a:cs typeface="Calibri" pitchFamily="34" charset="-120"/>
              </a:rPr>
              <a:t>Prepared by Sean</a:t>
            </a:r>
            <a:endParaRPr lang="en-US" sz="1000" dirty="0"/>
          </a:p>
        </p:txBody>
      </p:sp>
      <p:sp>
        <p:nvSpPr>
          <p:cNvPr id="22" name="Text 20"/>
          <p:cNvSpPr txBox="1"/>
          <p:nvPr/>
        </p:nvSpPr>
        <p:spPr>
          <a:xfrm>
            <a:off x="10591495" y="6355080"/>
            <a:ext cx="914400" cy="228600"/>
          </a:xfrm>
          <a:prstGeom prst="rect">
            <a:avLst/>
          </a:prstGeom>
          <a:noFill/>
          <a:ln/>
        </p:spPr>
        <p:txBody>
          <a:bodyPr wrap="square" lIns="0" tIns="0" rIns="0" bIns="0" rtlCol="0" anchor="ctr"/>
          <a:lstStyle/>
          <a:p>
            <a:pPr algn="r" indent="0" marL="0">
              <a:buNone/>
            </a:pPr>
            <a:r>
              <a:rPr lang="en-US" sz="1000" dirty="0">
                <a:solidFill>
                  <a:srgbClr val="5B6670"/>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5202B"/>
        </a:solidFill>
      </p:bgPr>
    </p:bg>
    <p:spTree>
      <p:nvGrpSpPr>
        <p:cNvPr id="1" name=""/>
        <p:cNvGrpSpPr/>
        <p:nvPr/>
      </p:nvGrpSpPr>
      <p:grpSpPr>
        <a:xfrm>
          <a:off x="0" y="0"/>
          <a:ext cx="0" cy="0"/>
          <a:chOff x="0" y="0"/>
          <a:chExt cx="0" cy="0"/>
        </a:xfrm>
      </p:grpSpPr>
      <p:sp>
        <p:nvSpPr>
          <p:cNvPr id="2" name="Shape 0"/>
          <p:cNvSpPr/>
          <p:nvPr/>
        </p:nvSpPr>
        <p:spPr>
          <a:xfrm>
            <a:off x="8138160" y="-1828800"/>
            <a:ext cx="6035040" cy="6035040"/>
          </a:xfrm>
          <a:prstGeom prst="ellipse">
            <a:avLst/>
          </a:prstGeom>
          <a:solidFill>
            <a:srgbClr val="1E8077">
              <a:alpha val="14000"/>
            </a:srgbClr>
          </a:solidFill>
          <a:ln w="6350">
            <a:solidFill>
              <a:srgbClr val="1E8077">
                <a:alpha val="30000"/>
              </a:srgbClr>
            </a:solidFill>
            <a:prstDash val="solid"/>
          </a:ln>
        </p:spPr>
      </p:sp>
      <p:sp>
        <p:nvSpPr>
          <p:cNvPr id="3" name="Text 1"/>
          <p:cNvSpPr txBox="1"/>
          <p:nvPr/>
        </p:nvSpPr>
        <p:spPr>
          <a:xfrm>
            <a:off x="685800" y="1417320"/>
            <a:ext cx="10820095" cy="274320"/>
          </a:xfrm>
          <a:prstGeom prst="rect">
            <a:avLst/>
          </a:prstGeom>
          <a:noFill/>
          <a:ln/>
        </p:spPr>
        <p:txBody>
          <a:bodyPr wrap="square" lIns="0" tIns="0" rIns="0" bIns="0" rtlCol="0" anchor="ctr"/>
          <a:lstStyle/>
          <a:p>
            <a:pPr indent="0" marL="0">
              <a:buNone/>
            </a:pPr>
            <a:r>
              <a:rPr lang="en-US" sz="1300" b="1" spc="400" kern="0" dirty="0">
                <a:solidFill>
                  <a:srgbClr val="1E8077"/>
                </a:solidFill>
                <a:latin typeface="Calibri" pitchFamily="34" charset="0"/>
                <a:ea typeface="Calibri" pitchFamily="34" charset="-122"/>
                <a:cs typeface="Calibri" pitchFamily="34" charset="-120"/>
              </a:rPr>
              <a:t>REVENUE POTENTIAL</a:t>
            </a:r>
            <a:endParaRPr lang="en-US" sz="1300" dirty="0"/>
          </a:p>
        </p:txBody>
      </p:sp>
      <p:sp>
        <p:nvSpPr>
          <p:cNvPr id="4" name="Text 2"/>
          <p:cNvSpPr txBox="1"/>
          <p:nvPr/>
        </p:nvSpPr>
        <p:spPr>
          <a:xfrm>
            <a:off x="685800" y="1828800"/>
            <a:ext cx="10820095" cy="1280160"/>
          </a:xfrm>
          <a:prstGeom prst="rect">
            <a:avLst/>
          </a:prstGeom>
          <a:noFill/>
          <a:ln/>
        </p:spPr>
        <p:txBody>
          <a:bodyPr wrap="square" lIns="0" tIns="0" rIns="0" bIns="0" rtlCol="0" anchor="ctr"/>
          <a:lstStyle/>
          <a:p>
            <a:pPr indent="0" marL="0">
              <a:buNone/>
            </a:pPr>
            <a:r>
              <a:rPr lang="en-US" sz="8000" b="1" dirty="0">
                <a:solidFill>
                  <a:srgbClr val="FFFFFF"/>
                </a:solidFill>
                <a:latin typeface="Arial" pitchFamily="34" charset="0"/>
                <a:ea typeface="Arial" pitchFamily="34" charset="-122"/>
                <a:cs typeface="Arial" pitchFamily="34" charset="-120"/>
              </a:rPr>
              <a:t>$30,000</a:t>
            </a:r>
            <a:pPr indent="0" marL="0">
              <a:buNone/>
            </a:pPr>
            <a:r>
              <a:rPr lang="en-US" sz="2600" b="1" dirty="0">
                <a:solidFill>
                  <a:srgbClr val="A7B4BF"/>
                </a:solidFill>
                <a:latin typeface="Arial" pitchFamily="34" charset="0"/>
                <a:ea typeface="Arial" pitchFamily="34" charset="-122"/>
                <a:cs typeface="Arial" pitchFamily="34" charset="-120"/>
              </a:rPr>
              <a:t>  per cohort</a:t>
            </a:r>
            <a:endParaRPr lang="en-US" sz="8000" dirty="0"/>
          </a:p>
        </p:txBody>
      </p:sp>
      <p:sp>
        <p:nvSpPr>
          <p:cNvPr id="5" name="Shape 3"/>
          <p:cNvSpPr/>
          <p:nvPr/>
        </p:nvSpPr>
        <p:spPr>
          <a:xfrm>
            <a:off x="685800" y="3337560"/>
            <a:ext cx="1005840" cy="54864"/>
          </a:xfrm>
          <a:prstGeom prst="rect">
            <a:avLst/>
          </a:prstGeom>
          <a:solidFill>
            <a:srgbClr val="1E8077"/>
          </a:solidFill>
          <a:ln w="12700">
            <a:solidFill>
              <a:srgbClr val="1E8077"/>
            </a:solidFill>
            <a:prstDash val="solid"/>
          </a:ln>
        </p:spPr>
      </p:sp>
      <p:sp>
        <p:nvSpPr>
          <p:cNvPr id="6" name="Text 4"/>
          <p:cNvSpPr txBox="1"/>
          <p:nvPr/>
        </p:nvSpPr>
        <p:spPr>
          <a:xfrm>
            <a:off x="685800" y="3657600"/>
            <a:ext cx="8778240" cy="1188720"/>
          </a:xfrm>
          <a:prstGeom prst="rect">
            <a:avLst/>
          </a:prstGeom>
          <a:noFill/>
          <a:ln/>
        </p:spPr>
        <p:txBody>
          <a:bodyPr wrap="square" lIns="0" tIns="0" rIns="0" bIns="0" rtlCol="0" anchor="t"/>
          <a:lstStyle/>
          <a:p>
            <a:pPr indent="0" marL="0">
              <a:lnSpc>
                <a:spcPct val="120000"/>
              </a:lnSpc>
              <a:buNone/>
            </a:pPr>
            <a:r>
              <a:rPr lang="en-US" sz="2200" dirty="0">
                <a:solidFill>
                  <a:srgbClr val="A7B4BF"/>
                </a:solidFill>
                <a:latin typeface="Calibri" pitchFamily="34" charset="0"/>
                <a:ea typeface="Calibri" pitchFamily="34" charset="-122"/>
                <a:cs typeface="Calibri" pitchFamily="34" charset="-120"/>
              </a:rPr>
              <a:t>Based on these numbers, a single well-positioned premium program with 20 spots represents a Revenue Potential of </a:t>
            </a:r>
            <a:pPr indent="0" marL="0">
              <a:lnSpc>
                <a:spcPct val="120000"/>
              </a:lnSpc>
              <a:buNone/>
            </a:pPr>
            <a:r>
              <a:rPr lang="en-US" sz="2200" b="1" dirty="0">
                <a:solidFill>
                  <a:srgbClr val="5FC4B8"/>
                </a:solidFill>
                <a:latin typeface="Calibri" pitchFamily="34" charset="0"/>
                <a:ea typeface="Calibri" pitchFamily="34" charset="-122"/>
                <a:cs typeface="Calibri" pitchFamily="34" charset="-120"/>
              </a:rPr>
              <a:t>$30,000 per cohort</a:t>
            </a:r>
            <a:pPr indent="0" marL="0">
              <a:lnSpc>
                <a:spcPct val="120000"/>
              </a:lnSpc>
              <a:buNone/>
            </a:pPr>
            <a:r>
              <a:rPr lang="en-US" sz="2200" dirty="0">
                <a:solidFill>
                  <a:srgbClr val="A7B4BF"/>
                </a:solidFill>
                <a:latin typeface="Calibri" pitchFamily="34" charset="0"/>
                <a:ea typeface="Calibri" pitchFamily="34" charset="-122"/>
                <a:cs typeface="Calibri" pitchFamily="34" charset="-120"/>
              </a:rPr>
              <a:t>.</a:t>
            </a:r>
            <a:endParaRPr lang="en-US" sz="2200" dirty="0"/>
          </a:p>
        </p:txBody>
      </p:sp>
      <p:sp>
        <p:nvSpPr>
          <p:cNvPr id="7" name="Text 5"/>
          <p:cNvSpPr txBox="1"/>
          <p:nvPr/>
        </p:nvSpPr>
        <p:spPr>
          <a:xfrm>
            <a:off x="685800" y="6355080"/>
            <a:ext cx="5486400" cy="228600"/>
          </a:xfrm>
          <a:prstGeom prst="rect">
            <a:avLst/>
          </a:prstGeom>
          <a:noFill/>
          <a:ln/>
        </p:spPr>
        <p:txBody>
          <a:bodyPr wrap="square" lIns="0" tIns="0" rIns="0" bIns="0" rtlCol="0" anchor="ctr"/>
          <a:lstStyle/>
          <a:p>
            <a:pPr indent="0" marL="0">
              <a:buNone/>
            </a:pPr>
            <a:r>
              <a:rPr lang="en-US" sz="1000" dirty="0">
                <a:solidFill>
                  <a:srgbClr val="A7B4BF"/>
                </a:solidFill>
                <a:latin typeface="Calibri" pitchFamily="34" charset="0"/>
                <a:ea typeface="Calibri" pitchFamily="34" charset="-122"/>
                <a:cs typeface="Calibri" pitchFamily="34" charset="-120"/>
              </a:rPr>
              <a:t>Prepared by Sean</a:t>
            </a:r>
            <a:endParaRPr lang="en-US" sz="1000" dirty="0"/>
          </a:p>
        </p:txBody>
      </p:sp>
      <p:sp>
        <p:nvSpPr>
          <p:cNvPr id="8" name="Text 6"/>
          <p:cNvSpPr txBox="1"/>
          <p:nvPr/>
        </p:nvSpPr>
        <p:spPr>
          <a:xfrm>
            <a:off x="10591495" y="6355080"/>
            <a:ext cx="914400" cy="228600"/>
          </a:xfrm>
          <a:prstGeom prst="rect">
            <a:avLst/>
          </a:prstGeom>
          <a:noFill/>
          <a:ln/>
        </p:spPr>
        <p:txBody>
          <a:bodyPr wrap="square" lIns="0" tIns="0" rIns="0" bIns="0" rtlCol="0" anchor="ctr"/>
          <a:lstStyle/>
          <a:p>
            <a:pPr algn="r" indent="0" marL="0">
              <a:buNone/>
            </a:pPr>
            <a:r>
              <a:rPr lang="en-US" sz="1000" dirty="0">
                <a:solidFill>
                  <a:srgbClr val="A7B4BF"/>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56032"/>
          </a:xfrm>
          <a:prstGeom prst="rect">
            <a:avLst/>
          </a:prstGeom>
          <a:noFill/>
          <a:ln/>
        </p:spPr>
        <p:txBody>
          <a:bodyPr wrap="square" lIns="0" tIns="0" rIns="0" bIns="0" rtlCol="0" anchor="ctr"/>
          <a:lstStyle/>
          <a:p>
            <a:pPr indent="0" marL="0">
              <a:buNone/>
            </a:pPr>
            <a:r>
              <a:rPr lang="en-US" sz="1200" b="1" spc="200" kern="0" dirty="0">
                <a:solidFill>
                  <a:srgbClr val="1E8077"/>
                </a:solidFill>
                <a:latin typeface="Calibri" pitchFamily="34" charset="0"/>
                <a:ea typeface="Calibri" pitchFamily="34" charset="-122"/>
                <a:cs typeface="Calibri" pitchFamily="34" charset="-120"/>
              </a:rPr>
              <a:t>02   PRODUCT SUGGESTIONS</a:t>
            </a:r>
            <a:endParaRPr lang="en-US" sz="1200" dirty="0"/>
          </a:p>
        </p:txBody>
      </p:sp>
      <p:sp>
        <p:nvSpPr>
          <p:cNvPr id="3" name="Text 1"/>
          <p:cNvSpPr txBox="1"/>
          <p:nvPr/>
        </p:nvSpPr>
        <p:spPr>
          <a:xfrm>
            <a:off x="685800" y="768096"/>
            <a:ext cx="10820095" cy="640080"/>
          </a:xfrm>
          <a:prstGeom prst="rect">
            <a:avLst/>
          </a:prstGeom>
          <a:noFill/>
          <a:ln/>
        </p:spPr>
        <p:txBody>
          <a:bodyPr wrap="square" lIns="0" tIns="0" rIns="0" bIns="0" rtlCol="0" anchor="t"/>
          <a:lstStyle/>
          <a:p>
            <a:pPr indent="0" marL="0">
              <a:buNone/>
            </a:pPr>
            <a:r>
              <a:rPr lang="en-US" sz="3200" b="1" dirty="0">
                <a:solidFill>
                  <a:srgbClr val="15202B"/>
                </a:solidFill>
                <a:latin typeface="Arial" pitchFamily="34" charset="0"/>
                <a:ea typeface="Arial" pitchFamily="34" charset="-122"/>
                <a:cs typeface="Arial" pitchFamily="34" charset="-120"/>
              </a:rPr>
              <a:t>Option 1: The Nervous System Mobility Accelerator</a:t>
            </a:r>
            <a:endParaRPr lang="en-US" sz="3200" dirty="0"/>
          </a:p>
        </p:txBody>
      </p:sp>
      <p:sp>
        <p:nvSpPr>
          <p:cNvPr id="4" name="Text 2"/>
          <p:cNvSpPr txBox="1"/>
          <p:nvPr/>
        </p:nvSpPr>
        <p:spPr>
          <a:xfrm>
            <a:off x="685800" y="1417320"/>
            <a:ext cx="10820095" cy="320040"/>
          </a:xfrm>
          <a:prstGeom prst="rect">
            <a:avLst/>
          </a:prstGeom>
          <a:noFill/>
          <a:ln/>
        </p:spPr>
        <p:txBody>
          <a:bodyPr wrap="square" lIns="0" tIns="0" rIns="0" bIns="0" rtlCol="0" anchor="ctr"/>
          <a:lstStyle/>
          <a:p>
            <a:pPr indent="0" marL="0">
              <a:buNone/>
            </a:pPr>
            <a:r>
              <a:rPr lang="en-US" sz="1300" dirty="0">
                <a:solidFill>
                  <a:srgbClr val="5B6670"/>
                </a:solidFill>
                <a:latin typeface="Calibri" pitchFamily="34" charset="0"/>
                <a:ea typeface="Calibri" pitchFamily="34" charset="-122"/>
                <a:cs typeface="Calibri" pitchFamily="34" charset="-120"/>
              </a:rPr>
              <a:t>Crossing what your content demonstrates with what your audience shows it wants, here are 3 profitable paths.</a:t>
            </a:r>
            <a:endParaRPr lang="en-US" sz="1300" dirty="0"/>
          </a:p>
        </p:txBody>
      </p:sp>
      <p:sp>
        <p:nvSpPr>
          <p:cNvPr id="5" name="Shape 3"/>
          <p:cNvSpPr/>
          <p:nvPr/>
        </p:nvSpPr>
        <p:spPr>
          <a:xfrm>
            <a:off x="9905695" y="457200"/>
            <a:ext cx="1417320" cy="292608"/>
          </a:xfrm>
          <a:prstGeom prst="roundRect">
            <a:avLst>
              <a:gd name="adj" fmla="val 50000"/>
            </a:avLst>
          </a:prstGeom>
          <a:solidFill>
            <a:srgbClr val="1E8077"/>
          </a:solidFill>
          <a:ln w="6350">
            <a:solidFill>
              <a:srgbClr val="1E8077"/>
            </a:solidFill>
            <a:prstDash val="solid"/>
          </a:ln>
        </p:spPr>
      </p:sp>
      <p:sp>
        <p:nvSpPr>
          <p:cNvPr id="6" name="Text 4"/>
          <p:cNvSpPr txBox="1"/>
          <p:nvPr/>
        </p:nvSpPr>
        <p:spPr>
          <a:xfrm>
            <a:off x="9905695" y="457200"/>
            <a:ext cx="14173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THE BIG BET</a:t>
            </a:r>
            <a:endParaRPr lang="en-US" sz="1050" dirty="0"/>
          </a:p>
        </p:txBody>
      </p:sp>
      <p:sp>
        <p:nvSpPr>
          <p:cNvPr id="7" name="Shape 5"/>
          <p:cNvSpPr/>
          <p:nvPr/>
        </p:nvSpPr>
        <p:spPr>
          <a:xfrm>
            <a:off x="685800" y="1965960"/>
            <a:ext cx="3423818" cy="4069080"/>
          </a:xfrm>
          <a:prstGeom prst="roundRect">
            <a:avLst>
              <a:gd name="adj" fmla="val 2404"/>
            </a:avLst>
          </a:prstGeom>
          <a:solidFill>
            <a:srgbClr val="F0F4F5"/>
          </a:solidFill>
          <a:ln w="6350">
            <a:solidFill>
              <a:srgbClr val="F0F4F5"/>
            </a:solidFill>
            <a:prstDash val="solid"/>
          </a:ln>
          <a:effectLst>
            <a:outerShdw sx="100000" sy="100000" kx="0" ky="0" algn="bl" rotWithShape="0" blurRad="152400" dist="25400" dir="5400000">
              <a:srgbClr val="000000">
                <a:alpha val="8000"/>
              </a:srgbClr>
            </a:outerShdw>
          </a:effectLst>
        </p:spPr>
      </p:sp>
      <p:sp>
        <p:nvSpPr>
          <p:cNvPr id="8" name="Shape 6"/>
          <p:cNvSpPr/>
          <p:nvPr/>
        </p:nvSpPr>
        <p:spPr>
          <a:xfrm>
            <a:off x="1051560" y="2350008"/>
            <a:ext cx="420624" cy="420624"/>
          </a:xfrm>
          <a:prstGeom prst="ellipse">
            <a:avLst/>
          </a:prstGeom>
          <a:solidFill>
            <a:srgbClr val="1E8077"/>
          </a:solidFill>
          <a:ln w="6350">
            <a:solidFill>
              <a:srgbClr val="1E8077"/>
            </a:solidFill>
            <a:prstDash val="solid"/>
          </a:ln>
        </p:spPr>
      </p:sp>
      <p:sp>
        <p:nvSpPr>
          <p:cNvPr id="9" name="Text 7"/>
          <p:cNvSpPr txBox="1"/>
          <p:nvPr/>
        </p:nvSpPr>
        <p:spPr>
          <a:xfrm>
            <a:off x="1051560" y="23500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2990088"/>
            <a:ext cx="2692298" cy="365760"/>
          </a:xfrm>
          <a:prstGeom prst="rect">
            <a:avLst/>
          </a:prstGeom>
          <a:noFill/>
          <a:ln/>
        </p:spPr>
        <p:txBody>
          <a:bodyPr wrap="square" lIns="0" tIns="0" rIns="0" bIns="0" rtlCol="0" anchor="ctr"/>
          <a:lstStyle/>
          <a:p>
            <a:pPr indent="0" marL="0">
              <a:buNone/>
            </a:pPr>
            <a:r>
              <a:rPr lang="en-US" sz="1800" b="1" dirty="0">
                <a:solidFill>
                  <a:srgbClr val="15202B"/>
                </a:solidFill>
                <a:latin typeface="Arial" pitchFamily="34" charset="0"/>
                <a:ea typeface="Arial" pitchFamily="34" charset="-122"/>
                <a:cs typeface="Arial" pitchFamily="34" charset="-120"/>
              </a:rPr>
              <a:t>What It Is</a:t>
            </a:r>
            <a:endParaRPr lang="en-US" sz="1800" dirty="0"/>
          </a:p>
        </p:txBody>
      </p:sp>
      <p:sp>
        <p:nvSpPr>
          <p:cNvPr id="11" name="Text 9"/>
          <p:cNvSpPr txBox="1"/>
          <p:nvPr/>
        </p:nvSpPr>
        <p:spPr>
          <a:xfrm>
            <a:off x="1051560" y="3429000"/>
            <a:ext cx="2692298" cy="2468880"/>
          </a:xfrm>
          <a:prstGeom prst="rect">
            <a:avLst/>
          </a:prstGeom>
          <a:noFill/>
          <a:ln/>
        </p:spPr>
        <p:txBody>
          <a:bodyPr wrap="square" lIns="0" tIns="0" rIns="0" bIns="0" rtlCol="0" anchor="t"/>
          <a:lstStyle/>
          <a:p>
            <a:pPr indent="0" marL="0">
              <a:lnSpc>
                <a:spcPct val="115000"/>
              </a:lnSpc>
              <a:buNone/>
            </a:pPr>
            <a:r>
              <a:rPr lang="en-US" sz="1300" dirty="0">
                <a:solidFill>
                  <a:srgbClr val="5B6670"/>
                </a:solidFill>
                <a:latin typeface="Calibri" pitchFamily="34" charset="0"/>
                <a:ea typeface="Calibri" pitchFamily="34" charset="-122"/>
                <a:cs typeface="Calibri" pitchFamily="34" charset="-120"/>
              </a:rPr>
              <a:t>A premium, 12-week intensive mentorship program blending live weekly Zoom sessions, personalized movement assessments, video drill reviews, and clinical strength progressions to safely achieve full splits and spinal mobility.</a:t>
            </a:r>
            <a:endParaRPr lang="en-US" sz="1300" dirty="0"/>
          </a:p>
        </p:txBody>
      </p:sp>
      <p:sp>
        <p:nvSpPr>
          <p:cNvPr id="12" name="Shape 10"/>
          <p:cNvSpPr/>
          <p:nvPr/>
        </p:nvSpPr>
        <p:spPr>
          <a:xfrm>
            <a:off x="4383938" y="1965960"/>
            <a:ext cx="3423818" cy="4069080"/>
          </a:xfrm>
          <a:prstGeom prst="roundRect">
            <a:avLst>
              <a:gd name="adj" fmla="val 2404"/>
            </a:avLst>
          </a:prstGeom>
          <a:solidFill>
            <a:srgbClr val="F0F4F5"/>
          </a:solidFill>
          <a:ln w="6350">
            <a:solidFill>
              <a:srgbClr val="F0F4F5"/>
            </a:solidFill>
            <a:prstDash val="solid"/>
          </a:ln>
          <a:effectLst>
            <a:outerShdw sx="100000" sy="100000" kx="0" ky="0" algn="bl" rotWithShape="0" blurRad="152400" dist="25400" dir="5400000">
              <a:srgbClr val="000000">
                <a:alpha val="8000"/>
              </a:srgbClr>
            </a:outerShdw>
          </a:effectLst>
        </p:spPr>
      </p:sp>
      <p:sp>
        <p:nvSpPr>
          <p:cNvPr id="13" name="Shape 11"/>
          <p:cNvSpPr/>
          <p:nvPr/>
        </p:nvSpPr>
        <p:spPr>
          <a:xfrm>
            <a:off x="4749698" y="2350008"/>
            <a:ext cx="420624" cy="420624"/>
          </a:xfrm>
          <a:prstGeom prst="ellipse">
            <a:avLst/>
          </a:prstGeom>
          <a:solidFill>
            <a:srgbClr val="1E8077"/>
          </a:solidFill>
          <a:ln w="6350">
            <a:solidFill>
              <a:srgbClr val="1E8077"/>
            </a:solidFill>
            <a:prstDash val="solid"/>
          </a:ln>
        </p:spPr>
      </p:sp>
      <p:sp>
        <p:nvSpPr>
          <p:cNvPr id="14" name="Text 12"/>
          <p:cNvSpPr txBox="1"/>
          <p:nvPr/>
        </p:nvSpPr>
        <p:spPr>
          <a:xfrm>
            <a:off x="4749698" y="23500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txBox="1"/>
          <p:nvPr/>
        </p:nvSpPr>
        <p:spPr>
          <a:xfrm>
            <a:off x="4749698" y="2990088"/>
            <a:ext cx="2692298" cy="365760"/>
          </a:xfrm>
          <a:prstGeom prst="rect">
            <a:avLst/>
          </a:prstGeom>
          <a:noFill/>
          <a:ln/>
        </p:spPr>
        <p:txBody>
          <a:bodyPr wrap="square" lIns="0" tIns="0" rIns="0" bIns="0" rtlCol="0" anchor="ctr"/>
          <a:lstStyle/>
          <a:p>
            <a:pPr indent="0" marL="0">
              <a:buNone/>
            </a:pPr>
            <a:r>
              <a:rPr lang="en-US" sz="1800" b="1" dirty="0">
                <a:solidFill>
                  <a:srgbClr val="15202B"/>
                </a:solidFill>
                <a:latin typeface="Arial" pitchFamily="34" charset="0"/>
                <a:ea typeface="Arial" pitchFamily="34" charset="-122"/>
                <a:cs typeface="Arial" pitchFamily="34" charset="-120"/>
              </a:rPr>
              <a:t>For Whom</a:t>
            </a:r>
            <a:endParaRPr lang="en-US" sz="1800" dirty="0"/>
          </a:p>
        </p:txBody>
      </p:sp>
      <p:sp>
        <p:nvSpPr>
          <p:cNvPr id="16" name="Text 14"/>
          <p:cNvSpPr txBox="1"/>
          <p:nvPr/>
        </p:nvSpPr>
        <p:spPr>
          <a:xfrm>
            <a:off x="4749698" y="3429000"/>
            <a:ext cx="2692298" cy="2468880"/>
          </a:xfrm>
          <a:prstGeom prst="rect">
            <a:avLst/>
          </a:prstGeom>
          <a:noFill/>
          <a:ln/>
        </p:spPr>
        <p:txBody>
          <a:bodyPr wrap="square" lIns="0" tIns="0" rIns="0" bIns="0" rtlCol="0" anchor="t"/>
          <a:lstStyle/>
          <a:p>
            <a:pPr indent="0" marL="0">
              <a:lnSpc>
                <a:spcPct val="115000"/>
              </a:lnSpc>
              <a:buNone/>
            </a:pPr>
            <a:r>
              <a:rPr lang="en-US" sz="1300" dirty="0">
                <a:solidFill>
                  <a:srgbClr val="5B6670"/>
                </a:solidFill>
                <a:latin typeface="Calibri" pitchFamily="34" charset="0"/>
                <a:ea typeface="Calibri" pitchFamily="34" charset="-122"/>
                <a:cs typeface="Calibri" pitchFamily="34" charset="-120"/>
              </a:rPr>
              <a:t>Stiff adults and movement enthusiasts who have spent months or years forcing stretches without progress and feel their hips are permanently locked.</a:t>
            </a:r>
            <a:endParaRPr lang="en-US" sz="1300" dirty="0"/>
          </a:p>
        </p:txBody>
      </p:sp>
      <p:sp>
        <p:nvSpPr>
          <p:cNvPr id="17" name="Shape 15"/>
          <p:cNvSpPr/>
          <p:nvPr/>
        </p:nvSpPr>
        <p:spPr>
          <a:xfrm>
            <a:off x="8082077" y="1965960"/>
            <a:ext cx="3423818" cy="4069080"/>
          </a:xfrm>
          <a:prstGeom prst="roundRect">
            <a:avLst>
              <a:gd name="adj" fmla="val 2404"/>
            </a:avLst>
          </a:prstGeom>
          <a:solidFill>
            <a:srgbClr val="15202B"/>
          </a:solidFill>
          <a:ln w="6350">
            <a:solidFill>
              <a:srgbClr val="15202B"/>
            </a:solidFill>
            <a:prstDash val="solid"/>
          </a:ln>
          <a:effectLst>
            <a:outerShdw sx="100000" sy="100000" kx="0" ky="0" algn="bl" rotWithShape="0" blurRad="152400" dist="25400" dir="5400000">
              <a:srgbClr val="000000">
                <a:alpha val="8000"/>
              </a:srgbClr>
            </a:outerShdw>
          </a:effectLst>
        </p:spPr>
      </p:sp>
      <p:sp>
        <p:nvSpPr>
          <p:cNvPr id="18" name="Shape 16"/>
          <p:cNvSpPr/>
          <p:nvPr/>
        </p:nvSpPr>
        <p:spPr>
          <a:xfrm>
            <a:off x="8447837" y="2350008"/>
            <a:ext cx="420624" cy="420624"/>
          </a:xfrm>
          <a:prstGeom prst="ellipse">
            <a:avLst/>
          </a:prstGeom>
          <a:solidFill>
            <a:srgbClr val="1E8077"/>
          </a:solidFill>
          <a:ln w="6350">
            <a:solidFill>
              <a:srgbClr val="1E8077"/>
            </a:solidFill>
            <a:prstDash val="solid"/>
          </a:ln>
        </p:spPr>
      </p:sp>
      <p:sp>
        <p:nvSpPr>
          <p:cNvPr id="19" name="Text 17"/>
          <p:cNvSpPr txBox="1"/>
          <p:nvPr/>
        </p:nvSpPr>
        <p:spPr>
          <a:xfrm>
            <a:off x="8447837" y="23500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8"/>
          <p:cNvSpPr txBox="1"/>
          <p:nvPr/>
        </p:nvSpPr>
        <p:spPr>
          <a:xfrm>
            <a:off x="8447837" y="2990088"/>
            <a:ext cx="2692298" cy="36576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Why It Will Sell</a:t>
            </a:r>
            <a:endParaRPr lang="en-US" sz="1800" dirty="0"/>
          </a:p>
        </p:txBody>
      </p:sp>
      <p:sp>
        <p:nvSpPr>
          <p:cNvPr id="21" name="Text 19"/>
          <p:cNvSpPr txBox="1"/>
          <p:nvPr/>
        </p:nvSpPr>
        <p:spPr>
          <a:xfrm>
            <a:off x="8447837" y="3429000"/>
            <a:ext cx="2692298" cy="2468880"/>
          </a:xfrm>
          <a:prstGeom prst="rect">
            <a:avLst/>
          </a:prstGeom>
          <a:noFill/>
          <a:ln/>
        </p:spPr>
        <p:txBody>
          <a:bodyPr wrap="square" lIns="0" tIns="0" rIns="0" bIns="0" rtlCol="0" anchor="t"/>
          <a:lstStyle/>
          <a:p>
            <a:pPr indent="0" marL="0">
              <a:lnSpc>
                <a:spcPct val="115000"/>
              </a:lnSpc>
              <a:buNone/>
            </a:pPr>
            <a:r>
              <a:rPr lang="en-US" sz="1300" dirty="0">
                <a:solidFill>
                  <a:srgbClr val="A7B4BF"/>
                </a:solidFill>
                <a:latin typeface="Calibri" pitchFamily="34" charset="0"/>
                <a:ea typeface="Calibri" pitchFamily="34" charset="-122"/>
                <a:cs typeface="Calibri" pitchFamily="34" charset="-120"/>
              </a:rPr>
              <a:t>Directly solves the core bottleneck exposed in your top-performing content: passive stretching triggers protective tension, while your clinical coaching reprograms the nervous system to accept deeper ranges safely.</a:t>
            </a:r>
            <a:endParaRPr lang="en-US" sz="1300" dirty="0"/>
          </a:p>
        </p:txBody>
      </p:sp>
      <p:sp>
        <p:nvSpPr>
          <p:cNvPr id="22" name="Text 20"/>
          <p:cNvSpPr txBox="1"/>
          <p:nvPr/>
        </p:nvSpPr>
        <p:spPr>
          <a:xfrm>
            <a:off x="685800" y="6355080"/>
            <a:ext cx="5486400" cy="228600"/>
          </a:xfrm>
          <a:prstGeom prst="rect">
            <a:avLst/>
          </a:prstGeom>
          <a:noFill/>
          <a:ln/>
        </p:spPr>
        <p:txBody>
          <a:bodyPr wrap="square" lIns="0" tIns="0" rIns="0" bIns="0" rtlCol="0" anchor="ctr"/>
          <a:lstStyle/>
          <a:p>
            <a:pPr indent="0" marL="0">
              <a:buNone/>
            </a:pPr>
            <a:r>
              <a:rPr lang="en-US" sz="1000" dirty="0">
                <a:solidFill>
                  <a:srgbClr val="5B6670"/>
                </a:solidFill>
                <a:latin typeface="Calibri" pitchFamily="34" charset="0"/>
                <a:ea typeface="Calibri" pitchFamily="34" charset="-122"/>
                <a:cs typeface="Calibri" pitchFamily="34" charset="-120"/>
              </a:rPr>
              <a:t>Prepared by Sean</a:t>
            </a:r>
            <a:endParaRPr lang="en-US" sz="1000" dirty="0"/>
          </a:p>
        </p:txBody>
      </p:sp>
      <p:sp>
        <p:nvSpPr>
          <p:cNvPr id="23" name="Text 21"/>
          <p:cNvSpPr txBox="1"/>
          <p:nvPr/>
        </p:nvSpPr>
        <p:spPr>
          <a:xfrm>
            <a:off x="10591495" y="6355080"/>
            <a:ext cx="914400" cy="228600"/>
          </a:xfrm>
          <a:prstGeom prst="rect">
            <a:avLst/>
          </a:prstGeom>
          <a:noFill/>
          <a:ln/>
        </p:spPr>
        <p:txBody>
          <a:bodyPr wrap="square" lIns="0" tIns="0" rIns="0" bIns="0" rtlCol="0" anchor="ctr"/>
          <a:lstStyle/>
          <a:p>
            <a:pPr algn="r" indent="0" marL="0">
              <a:buNone/>
            </a:pPr>
            <a:r>
              <a:rPr lang="en-US" sz="1000" dirty="0">
                <a:solidFill>
                  <a:srgbClr val="5B6670"/>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56032"/>
          </a:xfrm>
          <a:prstGeom prst="rect">
            <a:avLst/>
          </a:prstGeom>
          <a:noFill/>
          <a:ln/>
        </p:spPr>
        <p:txBody>
          <a:bodyPr wrap="square" lIns="0" tIns="0" rIns="0" bIns="0" rtlCol="0" anchor="ctr"/>
          <a:lstStyle/>
          <a:p>
            <a:pPr indent="0" marL="0">
              <a:buNone/>
            </a:pPr>
            <a:r>
              <a:rPr lang="en-US" sz="1200" b="1" spc="200" kern="0" dirty="0">
                <a:solidFill>
                  <a:srgbClr val="1E8077"/>
                </a:solidFill>
                <a:latin typeface="Calibri" pitchFamily="34" charset="0"/>
                <a:ea typeface="Calibri" pitchFamily="34" charset="-122"/>
                <a:cs typeface="Calibri" pitchFamily="34" charset="-120"/>
              </a:rPr>
              <a:t>02   PRODUCT SUGGESTIONS</a:t>
            </a:r>
            <a:endParaRPr lang="en-US" sz="1200" dirty="0"/>
          </a:p>
        </p:txBody>
      </p:sp>
      <p:sp>
        <p:nvSpPr>
          <p:cNvPr id="3" name="Text 1"/>
          <p:cNvSpPr txBox="1"/>
          <p:nvPr/>
        </p:nvSpPr>
        <p:spPr>
          <a:xfrm>
            <a:off x="685800" y="768096"/>
            <a:ext cx="10820095" cy="640080"/>
          </a:xfrm>
          <a:prstGeom prst="rect">
            <a:avLst/>
          </a:prstGeom>
          <a:noFill/>
          <a:ln/>
        </p:spPr>
        <p:txBody>
          <a:bodyPr wrap="square" lIns="0" tIns="0" rIns="0" bIns="0" rtlCol="0" anchor="t"/>
          <a:lstStyle/>
          <a:p>
            <a:pPr indent="0" marL="0">
              <a:buNone/>
            </a:pPr>
            <a:r>
              <a:rPr lang="en-US" sz="3200" b="1" dirty="0">
                <a:solidFill>
                  <a:srgbClr val="15202B"/>
                </a:solidFill>
                <a:latin typeface="Arial" pitchFamily="34" charset="0"/>
                <a:ea typeface="Arial" pitchFamily="34" charset="-122"/>
                <a:cs typeface="Arial" pitchFamily="34" charset="-120"/>
              </a:rPr>
              <a:t>Two more profitable paths</a:t>
            </a:r>
            <a:endParaRPr lang="en-US" sz="3200" dirty="0"/>
          </a:p>
        </p:txBody>
      </p:sp>
      <p:sp>
        <p:nvSpPr>
          <p:cNvPr id="4" name="Shape 2"/>
          <p:cNvSpPr/>
          <p:nvPr/>
        </p:nvSpPr>
        <p:spPr>
          <a:xfrm>
            <a:off x="685800" y="1828800"/>
            <a:ext cx="5227168" cy="4114800"/>
          </a:xfrm>
          <a:prstGeom prst="roundRect">
            <a:avLst>
              <a:gd name="adj" fmla="val 2000"/>
            </a:avLst>
          </a:prstGeom>
          <a:solidFill>
            <a:srgbClr val="F0F4F5"/>
          </a:solidFill>
          <a:ln w="6350">
            <a:solidFill>
              <a:srgbClr val="F0F4F5"/>
            </a:solidFill>
            <a:prstDash val="solid"/>
          </a:ln>
          <a:effectLst>
            <a:outerShdw sx="100000" sy="100000" kx="0" ky="0" algn="bl" rotWithShape="0" blurRad="152400" dist="25400" dir="5400000">
              <a:srgbClr val="000000">
                <a:alpha val="8000"/>
              </a:srgbClr>
            </a:outerShdw>
          </a:effectLst>
        </p:spPr>
      </p:sp>
      <p:sp>
        <p:nvSpPr>
          <p:cNvPr id="5" name="Text 3"/>
          <p:cNvSpPr txBox="1"/>
          <p:nvPr/>
        </p:nvSpPr>
        <p:spPr>
          <a:xfrm>
            <a:off x="1143000" y="2194560"/>
            <a:ext cx="4312768" cy="256032"/>
          </a:xfrm>
          <a:prstGeom prst="rect">
            <a:avLst/>
          </a:prstGeom>
          <a:noFill/>
          <a:ln/>
        </p:spPr>
        <p:txBody>
          <a:bodyPr wrap="square" lIns="0" tIns="0" rIns="0" bIns="0" rtlCol="0" anchor="ctr"/>
          <a:lstStyle/>
          <a:p>
            <a:pPr indent="0" marL="0">
              <a:buNone/>
            </a:pPr>
            <a:r>
              <a:rPr lang="en-US" sz="1100" b="1" spc="200" kern="0" dirty="0">
                <a:solidFill>
                  <a:srgbClr val="1E8077"/>
                </a:solidFill>
                <a:latin typeface="Calibri" pitchFamily="34" charset="0"/>
                <a:ea typeface="Calibri" pitchFamily="34" charset="-122"/>
                <a:cs typeface="Calibri" pitchFamily="34" charset="-120"/>
              </a:rPr>
              <a:t>OPTION 2</a:t>
            </a:r>
            <a:endParaRPr lang="en-US" sz="1100" dirty="0"/>
          </a:p>
        </p:txBody>
      </p:sp>
      <p:sp>
        <p:nvSpPr>
          <p:cNvPr id="6" name="Text 4"/>
          <p:cNvSpPr txBox="1"/>
          <p:nvPr/>
        </p:nvSpPr>
        <p:spPr>
          <a:xfrm>
            <a:off x="1143000" y="2487168"/>
            <a:ext cx="4312768" cy="457200"/>
          </a:xfrm>
          <a:prstGeom prst="rect">
            <a:avLst/>
          </a:prstGeom>
          <a:noFill/>
          <a:ln/>
        </p:spPr>
        <p:txBody>
          <a:bodyPr wrap="square" lIns="0" tIns="0" rIns="0" bIns="0" rtlCol="0" anchor="ctr"/>
          <a:lstStyle/>
          <a:p>
            <a:pPr indent="0" marL="0">
              <a:buNone/>
            </a:pPr>
            <a:r>
              <a:rPr lang="en-US" sz="1800" b="1" dirty="0">
                <a:solidFill>
                  <a:srgbClr val="15202B"/>
                </a:solidFill>
                <a:latin typeface="Arial" pitchFamily="34" charset="0"/>
                <a:ea typeface="Arial" pitchFamily="34" charset="-122"/>
                <a:cs typeface="Arial" pitchFamily="34" charset="-120"/>
              </a:rPr>
              <a:t>The Front &amp; Middle Splits Blueprint</a:t>
            </a:r>
            <a:endParaRPr lang="en-US" sz="1800" dirty="0"/>
          </a:p>
        </p:txBody>
      </p:sp>
      <p:sp>
        <p:nvSpPr>
          <p:cNvPr id="7" name="Text 5"/>
          <p:cNvSpPr txBox="1"/>
          <p:nvPr/>
        </p:nvSpPr>
        <p:spPr>
          <a:xfrm>
            <a:off x="1143000" y="3154680"/>
            <a:ext cx="4312768" cy="274320"/>
          </a:xfrm>
          <a:prstGeom prst="rect">
            <a:avLst/>
          </a:prstGeom>
          <a:noFill/>
          <a:ln/>
        </p:spPr>
        <p:txBody>
          <a:bodyPr wrap="square" lIns="0" tIns="0" rIns="0" bIns="0" rtlCol="0" anchor="ctr"/>
          <a:lstStyle/>
          <a:p>
            <a:pPr indent="0" marL="0">
              <a:buNone/>
            </a:pPr>
            <a:r>
              <a:rPr lang="en-US" sz="1300" b="1" dirty="0">
                <a:solidFill>
                  <a:srgbClr val="15202B"/>
                </a:solidFill>
                <a:latin typeface="Calibri" pitchFamily="34" charset="0"/>
                <a:ea typeface="Calibri" pitchFamily="34" charset="-122"/>
                <a:cs typeface="Calibri" pitchFamily="34" charset="-120"/>
              </a:rPr>
              <a:t>What It Is</a:t>
            </a:r>
            <a:endParaRPr lang="en-US" sz="1300" dirty="0"/>
          </a:p>
        </p:txBody>
      </p:sp>
      <p:sp>
        <p:nvSpPr>
          <p:cNvPr id="8" name="Text 6"/>
          <p:cNvSpPr txBox="1"/>
          <p:nvPr/>
        </p:nvSpPr>
        <p:spPr>
          <a:xfrm>
            <a:off x="1143000" y="3456432"/>
            <a:ext cx="4312768" cy="1051560"/>
          </a:xfrm>
          <a:prstGeom prst="rect">
            <a:avLst/>
          </a:prstGeom>
          <a:noFill/>
          <a:ln/>
        </p:spPr>
        <p:txBody>
          <a:bodyPr wrap="square" lIns="0" tIns="0" rIns="0" bIns="0" rtlCol="0" anchor="t"/>
          <a:lstStyle/>
          <a:p>
            <a:pPr indent="0" marL="0">
              <a:lnSpc>
                <a:spcPct val="110000"/>
              </a:lnSpc>
              <a:buNone/>
            </a:pPr>
            <a:r>
              <a:rPr lang="en-US" sz="1300" dirty="0">
                <a:solidFill>
                  <a:srgbClr val="5B6670"/>
                </a:solidFill>
                <a:latin typeface="Calibri" pitchFamily="34" charset="0"/>
                <a:ea typeface="Calibri" pitchFamily="34" charset="-122"/>
                <a:cs typeface="Calibri" pitchFamily="34" charset="-120"/>
              </a:rPr>
              <a:t>A progressive end-range strength curriculum designed to take intermediate practitioners from partial depth to flat splits using active neurological conditioning.</a:t>
            </a:r>
            <a:endParaRPr lang="en-US" sz="1300" dirty="0"/>
          </a:p>
        </p:txBody>
      </p:sp>
      <p:sp>
        <p:nvSpPr>
          <p:cNvPr id="9" name="Shape 7"/>
          <p:cNvSpPr/>
          <p:nvPr/>
        </p:nvSpPr>
        <p:spPr>
          <a:xfrm>
            <a:off x="1143000" y="4590288"/>
            <a:ext cx="4312768" cy="0"/>
          </a:xfrm>
          <a:prstGeom prst="line">
            <a:avLst/>
          </a:prstGeom>
          <a:noFill/>
          <a:ln w="9525">
            <a:solidFill>
              <a:srgbClr val="5B6670">
                <a:alpha val="35000"/>
              </a:srgbClr>
            </a:solidFill>
            <a:prstDash val="solid"/>
          </a:ln>
        </p:spPr>
      </p:sp>
      <p:sp>
        <p:nvSpPr>
          <p:cNvPr id="10" name="Text 8"/>
          <p:cNvSpPr txBox="1"/>
          <p:nvPr/>
        </p:nvSpPr>
        <p:spPr>
          <a:xfrm>
            <a:off x="1143000" y="4709160"/>
            <a:ext cx="4312768" cy="274320"/>
          </a:xfrm>
          <a:prstGeom prst="rect">
            <a:avLst/>
          </a:prstGeom>
          <a:noFill/>
          <a:ln/>
        </p:spPr>
        <p:txBody>
          <a:bodyPr wrap="square" lIns="0" tIns="0" rIns="0" bIns="0" rtlCol="0" anchor="ctr"/>
          <a:lstStyle/>
          <a:p>
            <a:pPr indent="0" marL="0">
              <a:buNone/>
            </a:pPr>
            <a:r>
              <a:rPr lang="en-US" sz="1300" b="1" dirty="0">
                <a:solidFill>
                  <a:srgbClr val="1E8077"/>
                </a:solidFill>
                <a:latin typeface="Calibri" pitchFamily="34" charset="0"/>
                <a:ea typeface="Calibri" pitchFamily="34" charset="-122"/>
                <a:cs typeface="Calibri" pitchFamily="34" charset="-120"/>
              </a:rPr>
              <a:t>The Difference</a:t>
            </a:r>
            <a:endParaRPr lang="en-US" sz="1300" dirty="0"/>
          </a:p>
        </p:txBody>
      </p:sp>
      <p:sp>
        <p:nvSpPr>
          <p:cNvPr id="11" name="Text 9"/>
          <p:cNvSpPr txBox="1"/>
          <p:nvPr/>
        </p:nvSpPr>
        <p:spPr>
          <a:xfrm>
            <a:off x="1143000" y="5010912"/>
            <a:ext cx="4312768" cy="777240"/>
          </a:xfrm>
          <a:prstGeom prst="rect">
            <a:avLst/>
          </a:prstGeom>
          <a:noFill/>
          <a:ln/>
        </p:spPr>
        <p:txBody>
          <a:bodyPr wrap="square" lIns="0" tIns="0" rIns="0" bIns="0" rtlCol="0" anchor="t"/>
          <a:lstStyle/>
          <a:p>
            <a:pPr indent="0" marL="0">
              <a:lnSpc>
                <a:spcPct val="110000"/>
              </a:lnSpc>
              <a:buNone/>
            </a:pPr>
            <a:r>
              <a:rPr lang="en-US" sz="1300" dirty="0">
                <a:solidFill>
                  <a:srgbClr val="5B6670"/>
                </a:solidFill>
                <a:latin typeface="Calibri" pitchFamily="34" charset="0"/>
                <a:ea typeface="Calibri" pitchFamily="34" charset="-122"/>
                <a:cs typeface="Calibri" pitchFamily="34" charset="-120"/>
              </a:rPr>
              <a:t>Focuses strictly on lower-body hip mechanics, pelvic alignment, and targeted split milestones.</a:t>
            </a:r>
            <a:endParaRPr lang="en-US" sz="1300" dirty="0"/>
          </a:p>
        </p:txBody>
      </p:sp>
      <p:sp>
        <p:nvSpPr>
          <p:cNvPr id="12" name="Shape 10"/>
          <p:cNvSpPr/>
          <p:nvPr/>
        </p:nvSpPr>
        <p:spPr>
          <a:xfrm>
            <a:off x="6278728" y="1828800"/>
            <a:ext cx="5227168" cy="4114800"/>
          </a:xfrm>
          <a:prstGeom prst="roundRect">
            <a:avLst>
              <a:gd name="adj" fmla="val 2000"/>
            </a:avLst>
          </a:prstGeom>
          <a:solidFill>
            <a:srgbClr val="F0F4F5"/>
          </a:solidFill>
          <a:ln w="6350">
            <a:solidFill>
              <a:srgbClr val="F0F4F5"/>
            </a:solidFill>
            <a:prstDash val="solid"/>
          </a:ln>
          <a:effectLst>
            <a:outerShdw sx="100000" sy="100000" kx="0" ky="0" algn="bl" rotWithShape="0" blurRad="152400" dist="25400" dir="5400000">
              <a:srgbClr val="000000">
                <a:alpha val="8000"/>
              </a:srgbClr>
            </a:outerShdw>
          </a:effectLst>
        </p:spPr>
      </p:sp>
      <p:sp>
        <p:nvSpPr>
          <p:cNvPr id="13" name="Text 11"/>
          <p:cNvSpPr txBox="1"/>
          <p:nvPr/>
        </p:nvSpPr>
        <p:spPr>
          <a:xfrm>
            <a:off x="6735928" y="2194560"/>
            <a:ext cx="4312768" cy="256032"/>
          </a:xfrm>
          <a:prstGeom prst="rect">
            <a:avLst/>
          </a:prstGeom>
          <a:noFill/>
          <a:ln/>
        </p:spPr>
        <p:txBody>
          <a:bodyPr wrap="square" lIns="0" tIns="0" rIns="0" bIns="0" rtlCol="0" anchor="ctr"/>
          <a:lstStyle/>
          <a:p>
            <a:pPr indent="0" marL="0">
              <a:buNone/>
            </a:pPr>
            <a:r>
              <a:rPr lang="en-US" sz="1100" b="1" spc="200" kern="0" dirty="0">
                <a:solidFill>
                  <a:srgbClr val="1E8077"/>
                </a:solidFill>
                <a:latin typeface="Calibri" pitchFamily="34" charset="0"/>
                <a:ea typeface="Calibri" pitchFamily="34" charset="-122"/>
                <a:cs typeface="Calibri" pitchFamily="34" charset="-120"/>
              </a:rPr>
              <a:t>OPTION 3</a:t>
            </a:r>
            <a:endParaRPr lang="en-US" sz="1100" dirty="0"/>
          </a:p>
        </p:txBody>
      </p:sp>
      <p:sp>
        <p:nvSpPr>
          <p:cNvPr id="14" name="Text 12"/>
          <p:cNvSpPr txBox="1"/>
          <p:nvPr/>
        </p:nvSpPr>
        <p:spPr>
          <a:xfrm>
            <a:off x="6735928" y="2487168"/>
            <a:ext cx="4312768" cy="457200"/>
          </a:xfrm>
          <a:prstGeom prst="rect">
            <a:avLst/>
          </a:prstGeom>
          <a:noFill/>
          <a:ln/>
        </p:spPr>
        <p:txBody>
          <a:bodyPr wrap="square" lIns="0" tIns="0" rIns="0" bIns="0" rtlCol="0" anchor="ctr"/>
          <a:lstStyle/>
          <a:p>
            <a:pPr indent="0" marL="0">
              <a:buNone/>
            </a:pPr>
            <a:r>
              <a:rPr lang="en-US" sz="1800" b="1" dirty="0">
                <a:solidFill>
                  <a:srgbClr val="15202B"/>
                </a:solidFill>
                <a:latin typeface="Arial" pitchFamily="34" charset="0"/>
                <a:ea typeface="Arial" pitchFamily="34" charset="-122"/>
                <a:cs typeface="Arial" pitchFamily="34" charset="-120"/>
              </a:rPr>
              <a:t>Spinal Freedom &amp; Backbend Intensive</a:t>
            </a:r>
            <a:endParaRPr lang="en-US" sz="1800" dirty="0"/>
          </a:p>
        </p:txBody>
      </p:sp>
      <p:sp>
        <p:nvSpPr>
          <p:cNvPr id="15" name="Text 13"/>
          <p:cNvSpPr txBox="1"/>
          <p:nvPr/>
        </p:nvSpPr>
        <p:spPr>
          <a:xfrm>
            <a:off x="6735928" y="3154680"/>
            <a:ext cx="4312768" cy="274320"/>
          </a:xfrm>
          <a:prstGeom prst="rect">
            <a:avLst/>
          </a:prstGeom>
          <a:noFill/>
          <a:ln/>
        </p:spPr>
        <p:txBody>
          <a:bodyPr wrap="square" lIns="0" tIns="0" rIns="0" bIns="0" rtlCol="0" anchor="ctr"/>
          <a:lstStyle/>
          <a:p>
            <a:pPr indent="0" marL="0">
              <a:buNone/>
            </a:pPr>
            <a:r>
              <a:rPr lang="en-US" sz="1300" b="1" dirty="0">
                <a:solidFill>
                  <a:srgbClr val="15202B"/>
                </a:solidFill>
                <a:latin typeface="Calibri" pitchFamily="34" charset="0"/>
                <a:ea typeface="Calibri" pitchFamily="34" charset="-122"/>
                <a:cs typeface="Calibri" pitchFamily="34" charset="-120"/>
              </a:rPr>
              <a:t>What It Is</a:t>
            </a:r>
            <a:endParaRPr lang="en-US" sz="1300" dirty="0"/>
          </a:p>
        </p:txBody>
      </p:sp>
      <p:sp>
        <p:nvSpPr>
          <p:cNvPr id="16" name="Text 14"/>
          <p:cNvSpPr txBox="1"/>
          <p:nvPr/>
        </p:nvSpPr>
        <p:spPr>
          <a:xfrm>
            <a:off x="6735928" y="3456432"/>
            <a:ext cx="4312768" cy="1051560"/>
          </a:xfrm>
          <a:prstGeom prst="rect">
            <a:avLst/>
          </a:prstGeom>
          <a:noFill/>
          <a:ln/>
        </p:spPr>
        <p:txBody>
          <a:bodyPr wrap="square" lIns="0" tIns="0" rIns="0" bIns="0" rtlCol="0" anchor="t"/>
          <a:lstStyle/>
          <a:p>
            <a:pPr indent="0" marL="0">
              <a:lnSpc>
                <a:spcPct val="110000"/>
              </a:lnSpc>
              <a:buNone/>
            </a:pPr>
            <a:r>
              <a:rPr lang="en-US" sz="1300" dirty="0">
                <a:solidFill>
                  <a:srgbClr val="5B6670"/>
                </a:solidFill>
                <a:latin typeface="Calibri" pitchFamily="34" charset="0"/>
                <a:ea typeface="Calibri" pitchFamily="34" charset="-122"/>
                <a:cs typeface="Calibri" pitchFamily="34" charset="-120"/>
              </a:rPr>
              <a:t>A targeted workshop and cohort focused on thoracic spine mobility, shoulder opening, and decompressing the posterior chain.</a:t>
            </a:r>
            <a:endParaRPr lang="en-US" sz="1300" dirty="0"/>
          </a:p>
        </p:txBody>
      </p:sp>
      <p:sp>
        <p:nvSpPr>
          <p:cNvPr id="17" name="Shape 15"/>
          <p:cNvSpPr/>
          <p:nvPr/>
        </p:nvSpPr>
        <p:spPr>
          <a:xfrm>
            <a:off x="6735928" y="4590288"/>
            <a:ext cx="4312768" cy="0"/>
          </a:xfrm>
          <a:prstGeom prst="line">
            <a:avLst/>
          </a:prstGeom>
          <a:noFill/>
          <a:ln w="9525">
            <a:solidFill>
              <a:srgbClr val="5B6670">
                <a:alpha val="35000"/>
              </a:srgbClr>
            </a:solidFill>
            <a:prstDash val="solid"/>
          </a:ln>
        </p:spPr>
      </p:sp>
      <p:sp>
        <p:nvSpPr>
          <p:cNvPr id="18" name="Text 16"/>
          <p:cNvSpPr txBox="1"/>
          <p:nvPr/>
        </p:nvSpPr>
        <p:spPr>
          <a:xfrm>
            <a:off x="6735928" y="4709160"/>
            <a:ext cx="4312768" cy="274320"/>
          </a:xfrm>
          <a:prstGeom prst="rect">
            <a:avLst/>
          </a:prstGeom>
          <a:noFill/>
          <a:ln/>
        </p:spPr>
        <p:txBody>
          <a:bodyPr wrap="square" lIns="0" tIns="0" rIns="0" bIns="0" rtlCol="0" anchor="ctr"/>
          <a:lstStyle/>
          <a:p>
            <a:pPr indent="0" marL="0">
              <a:buNone/>
            </a:pPr>
            <a:r>
              <a:rPr lang="en-US" sz="1300" b="1" dirty="0">
                <a:solidFill>
                  <a:srgbClr val="1E8077"/>
                </a:solidFill>
                <a:latin typeface="Calibri" pitchFamily="34" charset="0"/>
                <a:ea typeface="Calibri" pitchFamily="34" charset="-122"/>
                <a:cs typeface="Calibri" pitchFamily="34" charset="-120"/>
              </a:rPr>
              <a:t>The Difference</a:t>
            </a:r>
            <a:endParaRPr lang="en-US" sz="1300" dirty="0"/>
          </a:p>
        </p:txBody>
      </p:sp>
      <p:sp>
        <p:nvSpPr>
          <p:cNvPr id="19" name="Text 17"/>
          <p:cNvSpPr txBox="1"/>
          <p:nvPr/>
        </p:nvSpPr>
        <p:spPr>
          <a:xfrm>
            <a:off x="6735928" y="5010912"/>
            <a:ext cx="4312768" cy="777240"/>
          </a:xfrm>
          <a:prstGeom prst="rect">
            <a:avLst/>
          </a:prstGeom>
          <a:noFill/>
          <a:ln/>
        </p:spPr>
        <p:txBody>
          <a:bodyPr wrap="square" lIns="0" tIns="0" rIns="0" bIns="0" rtlCol="0" anchor="t"/>
          <a:lstStyle/>
          <a:p>
            <a:pPr indent="0" marL="0">
              <a:lnSpc>
                <a:spcPct val="110000"/>
              </a:lnSpc>
              <a:buNone/>
            </a:pPr>
            <a:r>
              <a:rPr lang="en-US" sz="1300" dirty="0">
                <a:solidFill>
                  <a:srgbClr val="5B6670"/>
                </a:solidFill>
                <a:latin typeface="Calibri" pitchFamily="34" charset="0"/>
                <a:ea typeface="Calibri" pitchFamily="34" charset="-122"/>
                <a:cs typeface="Calibri" pitchFamily="34" charset="-120"/>
              </a:rPr>
              <a:t>A restorative, therapeutic pathway for desk workers and athletes seeking posture correction and back-bending without lower-back compression.</a:t>
            </a:r>
            <a:endParaRPr lang="en-US" sz="1300" dirty="0"/>
          </a:p>
        </p:txBody>
      </p:sp>
      <p:sp>
        <p:nvSpPr>
          <p:cNvPr id="20" name="Text 18"/>
          <p:cNvSpPr txBox="1"/>
          <p:nvPr/>
        </p:nvSpPr>
        <p:spPr>
          <a:xfrm>
            <a:off x="685800" y="6355080"/>
            <a:ext cx="5486400" cy="228600"/>
          </a:xfrm>
          <a:prstGeom prst="rect">
            <a:avLst/>
          </a:prstGeom>
          <a:noFill/>
          <a:ln/>
        </p:spPr>
        <p:txBody>
          <a:bodyPr wrap="square" lIns="0" tIns="0" rIns="0" bIns="0" rtlCol="0" anchor="ctr"/>
          <a:lstStyle/>
          <a:p>
            <a:pPr indent="0" marL="0">
              <a:buNone/>
            </a:pPr>
            <a:r>
              <a:rPr lang="en-US" sz="1000" dirty="0">
                <a:solidFill>
                  <a:srgbClr val="5B6670"/>
                </a:solidFill>
                <a:latin typeface="Calibri" pitchFamily="34" charset="0"/>
                <a:ea typeface="Calibri" pitchFamily="34" charset="-122"/>
                <a:cs typeface="Calibri" pitchFamily="34" charset="-120"/>
              </a:rPr>
              <a:t>Prepared by Sean</a:t>
            </a:r>
            <a:endParaRPr lang="en-US" sz="1000" dirty="0"/>
          </a:p>
        </p:txBody>
      </p:sp>
      <p:sp>
        <p:nvSpPr>
          <p:cNvPr id="21" name="Text 19"/>
          <p:cNvSpPr txBox="1"/>
          <p:nvPr/>
        </p:nvSpPr>
        <p:spPr>
          <a:xfrm>
            <a:off x="10591495" y="6355080"/>
            <a:ext cx="914400" cy="228600"/>
          </a:xfrm>
          <a:prstGeom prst="rect">
            <a:avLst/>
          </a:prstGeom>
          <a:noFill/>
          <a:ln/>
        </p:spPr>
        <p:txBody>
          <a:bodyPr wrap="square" lIns="0" tIns="0" rIns="0" bIns="0" rtlCol="0" anchor="ctr"/>
          <a:lstStyle/>
          <a:p>
            <a:pPr algn="r" indent="0" marL="0">
              <a:buNone/>
            </a:pPr>
            <a:r>
              <a:rPr lang="en-US" sz="1000" dirty="0">
                <a:solidFill>
                  <a:srgbClr val="5B6670"/>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56032"/>
          </a:xfrm>
          <a:prstGeom prst="rect">
            <a:avLst/>
          </a:prstGeom>
          <a:noFill/>
          <a:ln/>
        </p:spPr>
        <p:txBody>
          <a:bodyPr wrap="square" lIns="0" tIns="0" rIns="0" bIns="0" rtlCol="0" anchor="ctr"/>
          <a:lstStyle/>
          <a:p>
            <a:pPr indent="0" marL="0">
              <a:buNone/>
            </a:pPr>
            <a:r>
              <a:rPr lang="en-US" sz="1200" b="1" spc="200" kern="0" dirty="0">
                <a:solidFill>
                  <a:srgbClr val="1E8077"/>
                </a:solidFill>
                <a:latin typeface="Calibri" pitchFamily="34" charset="0"/>
                <a:ea typeface="Calibri" pitchFamily="34" charset="-122"/>
                <a:cs typeface="Calibri" pitchFamily="34" charset="-120"/>
              </a:rPr>
              <a:t>03   IMPLEMENTATION PLAN</a:t>
            </a:r>
            <a:endParaRPr lang="en-US" sz="1200" dirty="0"/>
          </a:p>
        </p:txBody>
      </p:sp>
      <p:sp>
        <p:nvSpPr>
          <p:cNvPr id="3" name="Text 1"/>
          <p:cNvSpPr txBox="1"/>
          <p:nvPr/>
        </p:nvSpPr>
        <p:spPr>
          <a:xfrm>
            <a:off x="685800" y="768096"/>
            <a:ext cx="10820095" cy="640080"/>
          </a:xfrm>
          <a:prstGeom prst="rect">
            <a:avLst/>
          </a:prstGeom>
          <a:noFill/>
          <a:ln/>
        </p:spPr>
        <p:txBody>
          <a:bodyPr wrap="square" lIns="0" tIns="0" rIns="0" bIns="0" rtlCol="0" anchor="t"/>
          <a:lstStyle/>
          <a:p>
            <a:pPr indent="0" marL="0">
              <a:buNone/>
            </a:pPr>
            <a:r>
              <a:rPr lang="en-US" sz="2400" b="1" dirty="0">
                <a:solidFill>
                  <a:srgbClr val="15202B"/>
                </a:solidFill>
                <a:latin typeface="Arial" pitchFamily="34" charset="0"/>
                <a:ea typeface="Arial" pitchFamily="34" charset="-122"/>
                <a:cs typeface="Arial" pitchFamily="34" charset="-120"/>
              </a:rPr>
              <a:t>If you decide to move forward, this is the launch structure we will use</a:t>
            </a:r>
            <a:endParaRPr lang="en-US" sz="2400" dirty="0"/>
          </a:p>
        </p:txBody>
      </p:sp>
      <p:sp>
        <p:nvSpPr>
          <p:cNvPr id="4" name="Shape 2"/>
          <p:cNvSpPr/>
          <p:nvPr/>
        </p:nvSpPr>
        <p:spPr>
          <a:xfrm>
            <a:off x="896112" y="1837944"/>
            <a:ext cx="0" cy="3657600"/>
          </a:xfrm>
          <a:prstGeom prst="line">
            <a:avLst/>
          </a:prstGeom>
          <a:noFill/>
          <a:ln w="19050">
            <a:solidFill>
              <a:srgbClr val="1E8077">
                <a:alpha val="50000"/>
              </a:srgbClr>
            </a:solidFill>
            <a:prstDash val="solid"/>
          </a:ln>
        </p:spPr>
      </p:sp>
      <p:sp>
        <p:nvSpPr>
          <p:cNvPr id="5" name="Shape 3"/>
          <p:cNvSpPr/>
          <p:nvPr/>
        </p:nvSpPr>
        <p:spPr>
          <a:xfrm>
            <a:off x="685800" y="1627632"/>
            <a:ext cx="420624" cy="420624"/>
          </a:xfrm>
          <a:prstGeom prst="ellipse">
            <a:avLst/>
          </a:prstGeom>
          <a:solidFill>
            <a:srgbClr val="1E8077"/>
          </a:solidFill>
          <a:ln w="6350">
            <a:solidFill>
              <a:srgbClr val="1E8077"/>
            </a:solidFill>
            <a:prstDash val="solid"/>
          </a:ln>
        </p:spPr>
      </p:sp>
      <p:sp>
        <p:nvSpPr>
          <p:cNvPr id="6" name="Text 4"/>
          <p:cNvSpPr txBox="1"/>
          <p:nvPr/>
        </p:nvSpPr>
        <p:spPr>
          <a:xfrm>
            <a:off x="685800" y="1627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Shape 5"/>
          <p:cNvSpPr/>
          <p:nvPr/>
        </p:nvSpPr>
        <p:spPr>
          <a:xfrm>
            <a:off x="1325880" y="1527048"/>
            <a:ext cx="10180015" cy="640080"/>
          </a:xfrm>
          <a:prstGeom prst="roundRect">
            <a:avLst>
              <a:gd name="adj" fmla="val 12857"/>
            </a:avLst>
          </a:prstGeom>
          <a:solidFill>
            <a:srgbClr val="F0F4F5"/>
          </a:solidFill>
          <a:ln w="6350">
            <a:solidFill>
              <a:srgbClr val="F0F4F5"/>
            </a:solidFill>
            <a:prstDash val="solid"/>
          </a:ln>
          <a:effectLst>
            <a:outerShdw sx="100000" sy="100000" kx="0" ky="0" algn="bl" rotWithShape="0" blurRad="152400" dist="25400" dir="5400000">
              <a:srgbClr val="000000">
                <a:alpha val="8000"/>
              </a:srgbClr>
            </a:outerShdw>
          </a:effectLst>
        </p:spPr>
      </p:sp>
      <p:sp>
        <p:nvSpPr>
          <p:cNvPr id="8" name="Text 6"/>
          <p:cNvSpPr txBox="1"/>
          <p:nvPr/>
        </p:nvSpPr>
        <p:spPr>
          <a:xfrm>
            <a:off x="1600200" y="1527048"/>
            <a:ext cx="1828800" cy="640080"/>
          </a:xfrm>
          <a:prstGeom prst="rect">
            <a:avLst/>
          </a:prstGeom>
          <a:noFill/>
          <a:ln/>
        </p:spPr>
        <p:txBody>
          <a:bodyPr wrap="square" lIns="0" tIns="0" rIns="0" bIns="0" rtlCol="0" anchor="ctr"/>
          <a:lstStyle/>
          <a:p>
            <a:pPr indent="0" marL="0">
              <a:buNone/>
            </a:pPr>
            <a:r>
              <a:rPr lang="en-US" sz="950" b="1" spc="150" kern="0" dirty="0">
                <a:solidFill>
                  <a:srgbClr val="1E8077"/>
                </a:solidFill>
                <a:latin typeface="Calibri" pitchFamily="34" charset="0"/>
                <a:ea typeface="Calibri" pitchFamily="34" charset="-122"/>
                <a:cs typeface="Calibri" pitchFamily="34" charset="-120"/>
              </a:rPr>
              <a:t>PHASE 1</a:t>
            </a:r>
            <a:endParaRPr lang="en-US" sz="950" dirty="0"/>
          </a:p>
          <a:p>
            <a:pPr indent="0" marL="0">
              <a:buNone/>
            </a:pPr>
            <a:r>
              <a:rPr lang="en-US" sz="1500" b="1" dirty="0">
                <a:solidFill>
                  <a:srgbClr val="15202B"/>
                </a:solidFill>
                <a:latin typeface="Arial" pitchFamily="34" charset="0"/>
                <a:ea typeface="Arial" pitchFamily="34" charset="-122"/>
                <a:cs typeface="Arial" pitchFamily="34" charset="-120"/>
              </a:rPr>
              <a:t>Build Up</a:t>
            </a:r>
            <a:endParaRPr lang="en-US" sz="950" dirty="0"/>
          </a:p>
        </p:txBody>
      </p:sp>
      <p:sp>
        <p:nvSpPr>
          <p:cNvPr id="9" name="Text 7"/>
          <p:cNvSpPr txBox="1"/>
          <p:nvPr/>
        </p:nvSpPr>
        <p:spPr>
          <a:xfrm>
            <a:off x="3520440" y="1527048"/>
            <a:ext cx="7711135" cy="640080"/>
          </a:xfrm>
          <a:prstGeom prst="rect">
            <a:avLst/>
          </a:prstGeom>
          <a:noFill/>
          <a:ln/>
        </p:spPr>
        <p:txBody>
          <a:bodyPr wrap="square" lIns="0" tIns="0" rIns="0" bIns="0" rtlCol="0" anchor="ctr"/>
          <a:lstStyle/>
          <a:p>
            <a:pPr indent="0" marL="0">
              <a:lnSpc>
                <a:spcPct val="100000"/>
              </a:lnSpc>
              <a:buNone/>
            </a:pPr>
            <a:r>
              <a:rPr lang="en-US" sz="1150" dirty="0">
                <a:solidFill>
                  <a:srgbClr val="5B6670"/>
                </a:solidFill>
                <a:latin typeface="Calibri" pitchFamily="34" charset="0"/>
                <a:ea typeface="Calibri" pitchFamily="34" charset="-122"/>
                <a:cs typeface="Calibri" pitchFamily="34" charset="-120"/>
              </a:rPr>
              <a:t>Engage your community and tease that something big is coming. Interactive stories (polls, Q&amp;A boxes, DMs) touching on their pain points and showing your results. High interaction is the goal.</a:t>
            </a:r>
            <a:endParaRPr lang="en-US" sz="1150" dirty="0"/>
          </a:p>
        </p:txBody>
      </p:sp>
      <p:sp>
        <p:nvSpPr>
          <p:cNvPr id="10" name="Shape 8"/>
          <p:cNvSpPr/>
          <p:nvPr/>
        </p:nvSpPr>
        <p:spPr>
          <a:xfrm>
            <a:off x="685800" y="2359152"/>
            <a:ext cx="420624" cy="420624"/>
          </a:xfrm>
          <a:prstGeom prst="ellipse">
            <a:avLst/>
          </a:prstGeom>
          <a:solidFill>
            <a:srgbClr val="1E8077"/>
          </a:solidFill>
          <a:ln w="6350">
            <a:solidFill>
              <a:srgbClr val="1E8077"/>
            </a:solidFill>
            <a:prstDash val="solid"/>
          </a:ln>
        </p:spPr>
      </p:sp>
      <p:sp>
        <p:nvSpPr>
          <p:cNvPr id="11" name="Text 9"/>
          <p:cNvSpPr txBox="1"/>
          <p:nvPr/>
        </p:nvSpPr>
        <p:spPr>
          <a:xfrm>
            <a:off x="685800" y="235915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Shape 10"/>
          <p:cNvSpPr/>
          <p:nvPr/>
        </p:nvSpPr>
        <p:spPr>
          <a:xfrm>
            <a:off x="1325880" y="2258568"/>
            <a:ext cx="10180015" cy="640080"/>
          </a:xfrm>
          <a:prstGeom prst="roundRect">
            <a:avLst>
              <a:gd name="adj" fmla="val 12857"/>
            </a:avLst>
          </a:prstGeom>
          <a:solidFill>
            <a:srgbClr val="F0F4F5"/>
          </a:solidFill>
          <a:ln w="6350">
            <a:solidFill>
              <a:srgbClr val="F0F4F5"/>
            </a:solidFill>
            <a:prstDash val="solid"/>
          </a:ln>
          <a:effectLst>
            <a:outerShdw sx="100000" sy="100000" kx="0" ky="0" algn="bl" rotWithShape="0" blurRad="152400" dist="25400" dir="5400000">
              <a:srgbClr val="000000">
                <a:alpha val="8000"/>
              </a:srgbClr>
            </a:outerShdw>
          </a:effectLst>
        </p:spPr>
      </p:sp>
      <p:sp>
        <p:nvSpPr>
          <p:cNvPr id="13" name="Text 11"/>
          <p:cNvSpPr txBox="1"/>
          <p:nvPr/>
        </p:nvSpPr>
        <p:spPr>
          <a:xfrm>
            <a:off x="1600200" y="2258568"/>
            <a:ext cx="1828800" cy="640080"/>
          </a:xfrm>
          <a:prstGeom prst="rect">
            <a:avLst/>
          </a:prstGeom>
          <a:noFill/>
          <a:ln/>
        </p:spPr>
        <p:txBody>
          <a:bodyPr wrap="square" lIns="0" tIns="0" rIns="0" bIns="0" rtlCol="0" anchor="ctr"/>
          <a:lstStyle/>
          <a:p>
            <a:pPr indent="0" marL="0">
              <a:buNone/>
            </a:pPr>
            <a:r>
              <a:rPr lang="en-US" sz="950" b="1" spc="150" kern="0" dirty="0">
                <a:solidFill>
                  <a:srgbClr val="1E8077"/>
                </a:solidFill>
                <a:latin typeface="Calibri" pitchFamily="34" charset="0"/>
                <a:ea typeface="Calibri" pitchFamily="34" charset="-122"/>
                <a:cs typeface="Calibri" pitchFamily="34" charset="-120"/>
              </a:rPr>
              <a:t>PHASE 2</a:t>
            </a:r>
            <a:endParaRPr lang="en-US" sz="950" dirty="0"/>
          </a:p>
          <a:p>
            <a:pPr indent="0" marL="0">
              <a:buNone/>
            </a:pPr>
            <a:r>
              <a:rPr lang="en-US" sz="1500" b="1" dirty="0">
                <a:solidFill>
                  <a:srgbClr val="15202B"/>
                </a:solidFill>
                <a:latin typeface="Arial" pitchFamily="34" charset="0"/>
                <a:ea typeface="Arial" pitchFamily="34" charset="-122"/>
                <a:cs typeface="Arial" pitchFamily="34" charset="-120"/>
              </a:rPr>
              <a:t>Invitation</a:t>
            </a:r>
            <a:endParaRPr lang="en-US" sz="950" dirty="0"/>
          </a:p>
        </p:txBody>
      </p:sp>
      <p:sp>
        <p:nvSpPr>
          <p:cNvPr id="14" name="Text 12"/>
          <p:cNvSpPr txBox="1"/>
          <p:nvPr/>
        </p:nvSpPr>
        <p:spPr>
          <a:xfrm>
            <a:off x="3520440" y="2258568"/>
            <a:ext cx="7711135" cy="640080"/>
          </a:xfrm>
          <a:prstGeom prst="rect">
            <a:avLst/>
          </a:prstGeom>
          <a:noFill/>
          <a:ln/>
        </p:spPr>
        <p:txBody>
          <a:bodyPr wrap="square" lIns="0" tIns="0" rIns="0" bIns="0" rtlCol="0" anchor="ctr"/>
          <a:lstStyle/>
          <a:p>
            <a:pPr indent="0" marL="0">
              <a:lnSpc>
                <a:spcPct val="100000"/>
              </a:lnSpc>
              <a:buNone/>
            </a:pPr>
            <a:r>
              <a:rPr lang="en-US" sz="1150" dirty="0">
                <a:solidFill>
                  <a:srgbClr val="5B6670"/>
                </a:solidFill>
                <a:latin typeface="Calibri" pitchFamily="34" charset="0"/>
                <a:ea typeface="Calibri" pitchFamily="34" charset="-122"/>
                <a:cs typeface="Calibri" pitchFamily="34" charset="-120"/>
              </a:rPr>
              <a:t>Announce it's on the way and invite your audience into a private group (WhatsApp or Telegram) where all details will be revealed. Tease the time-limited exclusive bonus.</a:t>
            </a:r>
            <a:endParaRPr lang="en-US" sz="1150" dirty="0"/>
          </a:p>
        </p:txBody>
      </p:sp>
      <p:sp>
        <p:nvSpPr>
          <p:cNvPr id="15" name="Shape 13"/>
          <p:cNvSpPr/>
          <p:nvPr/>
        </p:nvSpPr>
        <p:spPr>
          <a:xfrm>
            <a:off x="685800" y="3090672"/>
            <a:ext cx="420624" cy="420624"/>
          </a:xfrm>
          <a:prstGeom prst="ellipse">
            <a:avLst/>
          </a:prstGeom>
          <a:solidFill>
            <a:srgbClr val="1E8077"/>
          </a:solidFill>
          <a:ln w="6350">
            <a:solidFill>
              <a:srgbClr val="1E8077"/>
            </a:solidFill>
            <a:prstDash val="solid"/>
          </a:ln>
        </p:spPr>
      </p:sp>
      <p:sp>
        <p:nvSpPr>
          <p:cNvPr id="16" name="Text 14"/>
          <p:cNvSpPr txBox="1"/>
          <p:nvPr/>
        </p:nvSpPr>
        <p:spPr>
          <a:xfrm>
            <a:off x="685800" y="30906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7" name="Shape 15"/>
          <p:cNvSpPr/>
          <p:nvPr/>
        </p:nvSpPr>
        <p:spPr>
          <a:xfrm>
            <a:off x="1325880" y="2990088"/>
            <a:ext cx="10180015" cy="640080"/>
          </a:xfrm>
          <a:prstGeom prst="roundRect">
            <a:avLst>
              <a:gd name="adj" fmla="val 12857"/>
            </a:avLst>
          </a:prstGeom>
          <a:solidFill>
            <a:srgbClr val="F0F4F5"/>
          </a:solidFill>
          <a:ln w="6350">
            <a:solidFill>
              <a:srgbClr val="F0F4F5"/>
            </a:solidFill>
            <a:prstDash val="solid"/>
          </a:ln>
          <a:effectLst>
            <a:outerShdw sx="100000" sy="100000" kx="0" ky="0" algn="bl" rotWithShape="0" blurRad="152400" dist="25400" dir="5400000">
              <a:srgbClr val="000000">
                <a:alpha val="8000"/>
              </a:srgbClr>
            </a:outerShdw>
          </a:effectLst>
        </p:spPr>
      </p:sp>
      <p:sp>
        <p:nvSpPr>
          <p:cNvPr id="18" name="Text 16"/>
          <p:cNvSpPr txBox="1"/>
          <p:nvPr/>
        </p:nvSpPr>
        <p:spPr>
          <a:xfrm>
            <a:off x="1600200" y="2990088"/>
            <a:ext cx="1828800" cy="640080"/>
          </a:xfrm>
          <a:prstGeom prst="rect">
            <a:avLst/>
          </a:prstGeom>
          <a:noFill/>
          <a:ln/>
        </p:spPr>
        <p:txBody>
          <a:bodyPr wrap="square" lIns="0" tIns="0" rIns="0" bIns="0" rtlCol="0" anchor="ctr"/>
          <a:lstStyle/>
          <a:p>
            <a:pPr indent="0" marL="0">
              <a:buNone/>
            </a:pPr>
            <a:r>
              <a:rPr lang="en-US" sz="950" b="1" spc="150" kern="0" dirty="0">
                <a:solidFill>
                  <a:srgbClr val="1E8077"/>
                </a:solidFill>
                <a:latin typeface="Calibri" pitchFamily="34" charset="0"/>
                <a:ea typeface="Calibri" pitchFamily="34" charset="-122"/>
                <a:cs typeface="Calibri" pitchFamily="34" charset="-120"/>
              </a:rPr>
              <a:t>PHASE 3</a:t>
            </a:r>
            <a:endParaRPr lang="en-US" sz="950" dirty="0"/>
          </a:p>
          <a:p>
            <a:pPr indent="0" marL="0">
              <a:buNone/>
            </a:pPr>
            <a:r>
              <a:rPr lang="en-US" sz="1500" b="1" dirty="0">
                <a:solidFill>
                  <a:srgbClr val="15202B"/>
                </a:solidFill>
                <a:latin typeface="Arial" pitchFamily="34" charset="0"/>
                <a:ea typeface="Arial" pitchFamily="34" charset="-122"/>
                <a:cs typeface="Arial" pitchFamily="34" charset="-120"/>
              </a:rPr>
              <a:t>Anticipation</a:t>
            </a:r>
            <a:endParaRPr lang="en-US" sz="950" dirty="0"/>
          </a:p>
        </p:txBody>
      </p:sp>
      <p:sp>
        <p:nvSpPr>
          <p:cNvPr id="19" name="Text 17"/>
          <p:cNvSpPr txBox="1"/>
          <p:nvPr/>
        </p:nvSpPr>
        <p:spPr>
          <a:xfrm>
            <a:off x="3520440" y="2990088"/>
            <a:ext cx="7711135" cy="640080"/>
          </a:xfrm>
          <a:prstGeom prst="rect">
            <a:avLst/>
          </a:prstGeom>
          <a:noFill/>
          <a:ln/>
        </p:spPr>
        <p:txBody>
          <a:bodyPr wrap="square" lIns="0" tIns="0" rIns="0" bIns="0" rtlCol="0" anchor="ctr"/>
          <a:lstStyle/>
          <a:p>
            <a:pPr indent="0" marL="0">
              <a:lnSpc>
                <a:spcPct val="100000"/>
              </a:lnSpc>
              <a:buNone/>
            </a:pPr>
            <a:r>
              <a:rPr lang="en-US" sz="1150" dirty="0">
                <a:solidFill>
                  <a:srgbClr val="5B6670"/>
                </a:solidFill>
                <a:latin typeface="Calibri" pitchFamily="34" charset="0"/>
                <a:ea typeface="Calibri" pitchFamily="34" charset="-122"/>
                <a:cs typeface="Calibri" pitchFamily="34" charset="-120"/>
              </a:rPr>
              <a:t>Build curiosity inside the group. Tease what's coming, share the results people can achieve, and make the timeline crystal clear, so everyone is ready to act the moment doors open.</a:t>
            </a:r>
            <a:endParaRPr lang="en-US" sz="1150" dirty="0"/>
          </a:p>
        </p:txBody>
      </p:sp>
      <p:sp>
        <p:nvSpPr>
          <p:cNvPr id="20" name="Shape 18"/>
          <p:cNvSpPr/>
          <p:nvPr/>
        </p:nvSpPr>
        <p:spPr>
          <a:xfrm>
            <a:off x="685800" y="3822192"/>
            <a:ext cx="420624" cy="420624"/>
          </a:xfrm>
          <a:prstGeom prst="ellipse">
            <a:avLst/>
          </a:prstGeom>
          <a:solidFill>
            <a:srgbClr val="1E8077"/>
          </a:solidFill>
          <a:ln w="6350">
            <a:solidFill>
              <a:srgbClr val="1E8077"/>
            </a:solidFill>
            <a:prstDash val="solid"/>
          </a:ln>
        </p:spPr>
      </p:sp>
      <p:sp>
        <p:nvSpPr>
          <p:cNvPr id="21" name="Text 19"/>
          <p:cNvSpPr txBox="1"/>
          <p:nvPr/>
        </p:nvSpPr>
        <p:spPr>
          <a:xfrm>
            <a:off x="685800" y="382219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2" name="Shape 20"/>
          <p:cNvSpPr/>
          <p:nvPr/>
        </p:nvSpPr>
        <p:spPr>
          <a:xfrm>
            <a:off x="1325880" y="3721608"/>
            <a:ext cx="10180015" cy="640080"/>
          </a:xfrm>
          <a:prstGeom prst="roundRect">
            <a:avLst>
              <a:gd name="adj" fmla="val 12857"/>
            </a:avLst>
          </a:prstGeom>
          <a:solidFill>
            <a:srgbClr val="F0F4F5"/>
          </a:solidFill>
          <a:ln w="6350">
            <a:solidFill>
              <a:srgbClr val="F0F4F5"/>
            </a:solidFill>
            <a:prstDash val="solid"/>
          </a:ln>
          <a:effectLst>
            <a:outerShdw sx="100000" sy="100000" kx="0" ky="0" algn="bl" rotWithShape="0" blurRad="152400" dist="25400" dir="5400000">
              <a:srgbClr val="000000">
                <a:alpha val="8000"/>
              </a:srgbClr>
            </a:outerShdw>
          </a:effectLst>
        </p:spPr>
      </p:sp>
      <p:sp>
        <p:nvSpPr>
          <p:cNvPr id="23" name="Text 21"/>
          <p:cNvSpPr txBox="1"/>
          <p:nvPr/>
        </p:nvSpPr>
        <p:spPr>
          <a:xfrm>
            <a:off x="1600200" y="3721608"/>
            <a:ext cx="1828800" cy="640080"/>
          </a:xfrm>
          <a:prstGeom prst="rect">
            <a:avLst/>
          </a:prstGeom>
          <a:noFill/>
          <a:ln/>
        </p:spPr>
        <p:txBody>
          <a:bodyPr wrap="square" lIns="0" tIns="0" rIns="0" bIns="0" rtlCol="0" anchor="ctr"/>
          <a:lstStyle/>
          <a:p>
            <a:pPr indent="0" marL="0">
              <a:buNone/>
            </a:pPr>
            <a:r>
              <a:rPr lang="en-US" sz="950" b="1" spc="150" kern="0" dirty="0">
                <a:solidFill>
                  <a:srgbClr val="1E8077"/>
                </a:solidFill>
                <a:latin typeface="Calibri" pitchFamily="34" charset="0"/>
                <a:ea typeface="Calibri" pitchFamily="34" charset="-122"/>
                <a:cs typeface="Calibri" pitchFamily="34" charset="-120"/>
              </a:rPr>
              <a:t>PHASE 4</a:t>
            </a:r>
            <a:endParaRPr lang="en-US" sz="950" dirty="0"/>
          </a:p>
          <a:p>
            <a:pPr indent="0" marL="0">
              <a:buNone/>
            </a:pPr>
            <a:r>
              <a:rPr lang="en-US" sz="1500" b="1" dirty="0">
                <a:solidFill>
                  <a:srgbClr val="15202B"/>
                </a:solidFill>
                <a:latin typeface="Arial" pitchFamily="34" charset="0"/>
                <a:ea typeface="Arial" pitchFamily="34" charset="-122"/>
                <a:cs typeface="Arial" pitchFamily="34" charset="-120"/>
              </a:rPr>
              <a:t>Reveal</a:t>
            </a:r>
            <a:endParaRPr lang="en-US" sz="950" dirty="0"/>
          </a:p>
        </p:txBody>
      </p:sp>
      <p:sp>
        <p:nvSpPr>
          <p:cNvPr id="24" name="Text 22"/>
          <p:cNvSpPr txBox="1"/>
          <p:nvPr/>
        </p:nvSpPr>
        <p:spPr>
          <a:xfrm>
            <a:off x="3520440" y="3721608"/>
            <a:ext cx="7711135" cy="640080"/>
          </a:xfrm>
          <a:prstGeom prst="rect">
            <a:avLst/>
          </a:prstGeom>
          <a:noFill/>
          <a:ln/>
        </p:spPr>
        <p:txBody>
          <a:bodyPr wrap="square" lIns="0" tIns="0" rIns="0" bIns="0" rtlCol="0" anchor="ctr"/>
          <a:lstStyle/>
          <a:p>
            <a:pPr indent="0" marL="0">
              <a:lnSpc>
                <a:spcPct val="100000"/>
              </a:lnSpc>
              <a:buNone/>
            </a:pPr>
            <a:r>
              <a:rPr lang="en-US" sz="1150" dirty="0">
                <a:solidFill>
                  <a:srgbClr val="5B6670"/>
                </a:solidFill>
                <a:latin typeface="Calibri" pitchFamily="34" charset="0"/>
                <a:ea typeface="Calibri" pitchFamily="34" charset="-122"/>
                <a:cs typeface="Calibri" pitchFamily="34" charset="-120"/>
              </a:rPr>
              <a:t>Deliver the full breakdown: what's included, the exclusive bonus, the price, and the open/close dates. Leave no doubt about what's on offer.</a:t>
            </a:r>
            <a:endParaRPr lang="en-US" sz="1150" dirty="0"/>
          </a:p>
        </p:txBody>
      </p:sp>
      <p:sp>
        <p:nvSpPr>
          <p:cNvPr id="25" name="Shape 23"/>
          <p:cNvSpPr/>
          <p:nvPr/>
        </p:nvSpPr>
        <p:spPr>
          <a:xfrm>
            <a:off x="685800" y="4553712"/>
            <a:ext cx="420624" cy="420624"/>
          </a:xfrm>
          <a:prstGeom prst="ellipse">
            <a:avLst/>
          </a:prstGeom>
          <a:solidFill>
            <a:srgbClr val="1E8077"/>
          </a:solidFill>
          <a:ln w="6350">
            <a:solidFill>
              <a:srgbClr val="1E8077"/>
            </a:solidFill>
            <a:prstDash val="solid"/>
          </a:ln>
        </p:spPr>
      </p:sp>
      <p:sp>
        <p:nvSpPr>
          <p:cNvPr id="26" name="Text 24"/>
          <p:cNvSpPr txBox="1"/>
          <p:nvPr/>
        </p:nvSpPr>
        <p:spPr>
          <a:xfrm>
            <a:off x="685800" y="45537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7" name="Shape 25"/>
          <p:cNvSpPr/>
          <p:nvPr/>
        </p:nvSpPr>
        <p:spPr>
          <a:xfrm>
            <a:off x="1325880" y="4453128"/>
            <a:ext cx="10180015" cy="640080"/>
          </a:xfrm>
          <a:prstGeom prst="roundRect">
            <a:avLst>
              <a:gd name="adj" fmla="val 12857"/>
            </a:avLst>
          </a:prstGeom>
          <a:solidFill>
            <a:srgbClr val="DCEDEB"/>
          </a:solidFill>
          <a:ln w="6350">
            <a:solidFill>
              <a:srgbClr val="DCEDEB"/>
            </a:solidFill>
            <a:prstDash val="solid"/>
          </a:ln>
          <a:effectLst>
            <a:outerShdw sx="100000" sy="100000" kx="0" ky="0" algn="bl" rotWithShape="0" blurRad="152400" dist="25400" dir="5400000">
              <a:srgbClr val="000000">
                <a:alpha val="8000"/>
              </a:srgbClr>
            </a:outerShdw>
          </a:effectLst>
        </p:spPr>
      </p:sp>
      <p:sp>
        <p:nvSpPr>
          <p:cNvPr id="28" name="Text 26"/>
          <p:cNvSpPr txBox="1"/>
          <p:nvPr/>
        </p:nvSpPr>
        <p:spPr>
          <a:xfrm>
            <a:off x="1600200" y="4453128"/>
            <a:ext cx="1828800" cy="640080"/>
          </a:xfrm>
          <a:prstGeom prst="rect">
            <a:avLst/>
          </a:prstGeom>
          <a:noFill/>
          <a:ln/>
        </p:spPr>
        <p:txBody>
          <a:bodyPr wrap="square" lIns="0" tIns="0" rIns="0" bIns="0" rtlCol="0" anchor="ctr"/>
          <a:lstStyle/>
          <a:p>
            <a:pPr indent="0" marL="0">
              <a:buNone/>
            </a:pPr>
            <a:r>
              <a:rPr lang="en-US" sz="950" b="1" spc="150" kern="0" dirty="0">
                <a:solidFill>
                  <a:srgbClr val="1E8077"/>
                </a:solidFill>
                <a:latin typeface="Calibri" pitchFamily="34" charset="0"/>
                <a:ea typeface="Calibri" pitchFamily="34" charset="-122"/>
                <a:cs typeface="Calibri" pitchFamily="34" charset="-120"/>
              </a:rPr>
              <a:t>PHASE 5</a:t>
            </a:r>
            <a:endParaRPr lang="en-US" sz="950" dirty="0"/>
          </a:p>
          <a:p>
            <a:pPr indent="0" marL="0">
              <a:buNone/>
            </a:pPr>
            <a:r>
              <a:rPr lang="en-US" sz="1500" b="1" dirty="0">
                <a:solidFill>
                  <a:srgbClr val="15202B"/>
                </a:solidFill>
                <a:latin typeface="Arial" pitchFamily="34" charset="0"/>
                <a:ea typeface="Arial" pitchFamily="34" charset="-122"/>
                <a:cs typeface="Arial" pitchFamily="34" charset="-120"/>
              </a:rPr>
              <a:t>Conversion</a:t>
            </a:r>
            <a:endParaRPr lang="en-US" sz="950" dirty="0"/>
          </a:p>
        </p:txBody>
      </p:sp>
      <p:sp>
        <p:nvSpPr>
          <p:cNvPr id="29" name="Text 27"/>
          <p:cNvSpPr txBox="1"/>
          <p:nvPr/>
        </p:nvSpPr>
        <p:spPr>
          <a:xfrm>
            <a:off x="3520440" y="4453128"/>
            <a:ext cx="7711135" cy="640080"/>
          </a:xfrm>
          <a:prstGeom prst="rect">
            <a:avLst/>
          </a:prstGeom>
          <a:noFill/>
          <a:ln/>
        </p:spPr>
        <p:txBody>
          <a:bodyPr wrap="square" lIns="0" tIns="0" rIns="0" bIns="0" rtlCol="0" anchor="ctr"/>
          <a:lstStyle/>
          <a:p>
            <a:pPr indent="0" marL="0">
              <a:lnSpc>
                <a:spcPct val="100000"/>
              </a:lnSpc>
              <a:buNone/>
            </a:pPr>
            <a:r>
              <a:rPr lang="en-US" sz="1150" dirty="0">
                <a:solidFill>
                  <a:srgbClr val="5B6670"/>
                </a:solidFill>
                <a:latin typeface="Calibri" pitchFamily="34" charset="0"/>
                <a:ea typeface="Calibri" pitchFamily="34" charset="-122"/>
                <a:cs typeface="Calibri" pitchFamily="34" charset="-120"/>
              </a:rPr>
              <a:t>Send the application link for one of the limited spots, run a poll to see who's in or has questions, and follow up 1-on-1 in the DMs with everyone who raises a hand. That's where most conversions happen.</a:t>
            </a:r>
            <a:endParaRPr lang="en-US" sz="1150" dirty="0"/>
          </a:p>
        </p:txBody>
      </p:sp>
      <p:sp>
        <p:nvSpPr>
          <p:cNvPr id="30" name="Shape 28"/>
          <p:cNvSpPr/>
          <p:nvPr/>
        </p:nvSpPr>
        <p:spPr>
          <a:xfrm>
            <a:off x="685800" y="5285232"/>
            <a:ext cx="420624" cy="420624"/>
          </a:xfrm>
          <a:prstGeom prst="ellipse">
            <a:avLst/>
          </a:prstGeom>
          <a:solidFill>
            <a:srgbClr val="1E8077"/>
          </a:solidFill>
          <a:ln w="6350">
            <a:solidFill>
              <a:srgbClr val="1E8077"/>
            </a:solidFill>
            <a:prstDash val="solid"/>
          </a:ln>
        </p:spPr>
      </p:sp>
      <p:sp>
        <p:nvSpPr>
          <p:cNvPr id="31" name="Text 29"/>
          <p:cNvSpPr txBox="1"/>
          <p:nvPr/>
        </p:nvSpPr>
        <p:spPr>
          <a:xfrm>
            <a:off x="685800" y="52852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2" name="Shape 30"/>
          <p:cNvSpPr/>
          <p:nvPr/>
        </p:nvSpPr>
        <p:spPr>
          <a:xfrm>
            <a:off x="1325880" y="5184648"/>
            <a:ext cx="10180015" cy="640080"/>
          </a:xfrm>
          <a:prstGeom prst="roundRect">
            <a:avLst>
              <a:gd name="adj" fmla="val 12857"/>
            </a:avLst>
          </a:prstGeom>
          <a:solidFill>
            <a:srgbClr val="DCEDEB"/>
          </a:solidFill>
          <a:ln w="6350">
            <a:solidFill>
              <a:srgbClr val="DCEDEB"/>
            </a:solidFill>
            <a:prstDash val="solid"/>
          </a:ln>
          <a:effectLst>
            <a:outerShdw sx="100000" sy="100000" kx="0" ky="0" algn="bl" rotWithShape="0" blurRad="152400" dist="25400" dir="5400000">
              <a:srgbClr val="000000">
                <a:alpha val="8000"/>
              </a:srgbClr>
            </a:outerShdw>
          </a:effectLst>
        </p:spPr>
      </p:sp>
      <p:sp>
        <p:nvSpPr>
          <p:cNvPr id="33" name="Text 31"/>
          <p:cNvSpPr txBox="1"/>
          <p:nvPr/>
        </p:nvSpPr>
        <p:spPr>
          <a:xfrm>
            <a:off x="1600200" y="5184648"/>
            <a:ext cx="1828800" cy="640080"/>
          </a:xfrm>
          <a:prstGeom prst="rect">
            <a:avLst/>
          </a:prstGeom>
          <a:noFill/>
          <a:ln/>
        </p:spPr>
        <p:txBody>
          <a:bodyPr wrap="square" lIns="0" tIns="0" rIns="0" bIns="0" rtlCol="0" anchor="ctr"/>
          <a:lstStyle/>
          <a:p>
            <a:pPr indent="0" marL="0">
              <a:buNone/>
            </a:pPr>
            <a:r>
              <a:rPr lang="en-US" sz="950" b="1" spc="150" kern="0" dirty="0">
                <a:solidFill>
                  <a:srgbClr val="1E8077"/>
                </a:solidFill>
                <a:latin typeface="Calibri" pitchFamily="34" charset="0"/>
                <a:ea typeface="Calibri" pitchFamily="34" charset="-122"/>
                <a:cs typeface="Calibri" pitchFamily="34" charset="-120"/>
              </a:rPr>
              <a:t>PHASE 6</a:t>
            </a:r>
            <a:endParaRPr lang="en-US" sz="950" dirty="0"/>
          </a:p>
          <a:p>
            <a:pPr indent="0" marL="0">
              <a:buNone/>
            </a:pPr>
            <a:r>
              <a:rPr lang="en-US" sz="1500" b="1" dirty="0">
                <a:solidFill>
                  <a:srgbClr val="15202B"/>
                </a:solidFill>
                <a:latin typeface="Arial" pitchFamily="34" charset="0"/>
                <a:ea typeface="Arial" pitchFamily="34" charset="-122"/>
                <a:cs typeface="Arial" pitchFamily="34" charset="-120"/>
              </a:rPr>
              <a:t>Urgency</a:t>
            </a:r>
            <a:endParaRPr lang="en-US" sz="950" dirty="0"/>
          </a:p>
        </p:txBody>
      </p:sp>
      <p:sp>
        <p:nvSpPr>
          <p:cNvPr id="34" name="Text 32"/>
          <p:cNvSpPr txBox="1"/>
          <p:nvPr/>
        </p:nvSpPr>
        <p:spPr>
          <a:xfrm>
            <a:off x="3520440" y="5184648"/>
            <a:ext cx="7711135" cy="640080"/>
          </a:xfrm>
          <a:prstGeom prst="rect">
            <a:avLst/>
          </a:prstGeom>
          <a:noFill/>
          <a:ln/>
        </p:spPr>
        <p:txBody>
          <a:bodyPr wrap="square" lIns="0" tIns="0" rIns="0" bIns="0" rtlCol="0" anchor="ctr"/>
          <a:lstStyle/>
          <a:p>
            <a:pPr indent="0" marL="0">
              <a:lnSpc>
                <a:spcPct val="100000"/>
              </a:lnSpc>
              <a:buNone/>
            </a:pPr>
            <a:r>
              <a:rPr lang="en-US" sz="1150" dirty="0">
                <a:solidFill>
                  <a:srgbClr val="5B6670"/>
                </a:solidFill>
                <a:latin typeface="Calibri" pitchFamily="34" charset="0"/>
                <a:ea typeface="Calibri" pitchFamily="34" charset="-122"/>
                <a:cs typeface="Calibri" pitchFamily="34" charset="-120"/>
              </a:rPr>
              <a:t>Countdown messages (24h, 12h, 6h, 2h, closed) that make them visualize exactly what they lose by staying out. The close must be real. Reopening destroys credibility for the next launch.</a:t>
            </a:r>
            <a:endParaRPr lang="en-US" sz="1150" dirty="0"/>
          </a:p>
        </p:txBody>
      </p:sp>
      <p:sp>
        <p:nvSpPr>
          <p:cNvPr id="35" name="Text 33"/>
          <p:cNvSpPr txBox="1"/>
          <p:nvPr/>
        </p:nvSpPr>
        <p:spPr>
          <a:xfrm>
            <a:off x="685800" y="6355080"/>
            <a:ext cx="5486400" cy="228600"/>
          </a:xfrm>
          <a:prstGeom prst="rect">
            <a:avLst/>
          </a:prstGeom>
          <a:noFill/>
          <a:ln/>
        </p:spPr>
        <p:txBody>
          <a:bodyPr wrap="square" lIns="0" tIns="0" rIns="0" bIns="0" rtlCol="0" anchor="ctr"/>
          <a:lstStyle/>
          <a:p>
            <a:pPr indent="0" marL="0">
              <a:buNone/>
            </a:pPr>
            <a:r>
              <a:rPr lang="en-US" sz="1000" dirty="0">
                <a:solidFill>
                  <a:srgbClr val="5B6670"/>
                </a:solidFill>
                <a:latin typeface="Calibri" pitchFamily="34" charset="0"/>
                <a:ea typeface="Calibri" pitchFamily="34" charset="-122"/>
                <a:cs typeface="Calibri" pitchFamily="34" charset="-120"/>
              </a:rPr>
              <a:t>Prepared by Sean</a:t>
            </a:r>
            <a:endParaRPr lang="en-US" sz="1000" dirty="0"/>
          </a:p>
        </p:txBody>
      </p:sp>
      <p:sp>
        <p:nvSpPr>
          <p:cNvPr id="36" name="Text 34"/>
          <p:cNvSpPr txBox="1"/>
          <p:nvPr/>
        </p:nvSpPr>
        <p:spPr>
          <a:xfrm>
            <a:off x="10591495" y="6355080"/>
            <a:ext cx="914400" cy="228600"/>
          </a:xfrm>
          <a:prstGeom prst="rect">
            <a:avLst/>
          </a:prstGeom>
          <a:noFill/>
          <a:ln/>
        </p:spPr>
        <p:txBody>
          <a:bodyPr wrap="square" lIns="0" tIns="0" rIns="0" bIns="0" rtlCol="0" anchor="ctr"/>
          <a:lstStyle/>
          <a:p>
            <a:pPr algn="r" indent="0" marL="0">
              <a:buNone/>
            </a:pPr>
            <a:r>
              <a:rPr lang="en-US" sz="1000" dirty="0">
                <a:solidFill>
                  <a:srgbClr val="5B6670"/>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56032"/>
          </a:xfrm>
          <a:prstGeom prst="rect">
            <a:avLst/>
          </a:prstGeom>
          <a:noFill/>
          <a:ln/>
        </p:spPr>
        <p:txBody>
          <a:bodyPr wrap="square" lIns="0" tIns="0" rIns="0" bIns="0" rtlCol="0" anchor="ctr"/>
          <a:lstStyle/>
          <a:p>
            <a:pPr indent="0" marL="0">
              <a:buNone/>
            </a:pPr>
            <a:r>
              <a:rPr lang="en-US" sz="1200" b="1" spc="200" kern="0" dirty="0">
                <a:solidFill>
                  <a:srgbClr val="1E8077"/>
                </a:solidFill>
                <a:latin typeface="Calibri" pitchFamily="34" charset="0"/>
                <a:ea typeface="Calibri" pitchFamily="34" charset="-122"/>
                <a:cs typeface="Calibri" pitchFamily="34" charset="-120"/>
              </a:rPr>
              <a:t>04   IMMEDIATE VALIDATION</a:t>
            </a:r>
            <a:endParaRPr lang="en-US" sz="1200" dirty="0"/>
          </a:p>
        </p:txBody>
      </p:sp>
      <p:sp>
        <p:nvSpPr>
          <p:cNvPr id="3" name="Text 1"/>
          <p:cNvSpPr txBox="1"/>
          <p:nvPr/>
        </p:nvSpPr>
        <p:spPr>
          <a:xfrm>
            <a:off x="685800" y="768096"/>
            <a:ext cx="10820095" cy="640080"/>
          </a:xfrm>
          <a:prstGeom prst="rect">
            <a:avLst/>
          </a:prstGeom>
          <a:noFill/>
          <a:ln/>
        </p:spPr>
        <p:txBody>
          <a:bodyPr wrap="square" lIns="0" tIns="0" rIns="0" bIns="0" rtlCol="0" anchor="t"/>
          <a:lstStyle/>
          <a:p>
            <a:pPr indent="0" marL="0">
              <a:buNone/>
            </a:pPr>
            <a:r>
              <a:rPr lang="en-US" sz="3200" b="1" dirty="0">
                <a:solidFill>
                  <a:srgbClr val="15202B"/>
                </a:solidFill>
                <a:latin typeface="Arial" pitchFamily="34" charset="0"/>
                <a:ea typeface="Arial" pitchFamily="34" charset="-122"/>
                <a:cs typeface="Arial" pitchFamily="34" charset="-120"/>
              </a:rPr>
              <a:t>Test Carousel</a:t>
            </a:r>
            <a:endParaRPr lang="en-US" sz="3200" dirty="0"/>
          </a:p>
        </p:txBody>
      </p:sp>
      <p:sp>
        <p:nvSpPr>
          <p:cNvPr id="4" name="Text 2"/>
          <p:cNvSpPr txBox="1"/>
          <p:nvPr/>
        </p:nvSpPr>
        <p:spPr>
          <a:xfrm>
            <a:off x="685800" y="1417320"/>
            <a:ext cx="10820095" cy="320040"/>
          </a:xfrm>
          <a:prstGeom prst="rect">
            <a:avLst/>
          </a:prstGeom>
          <a:noFill/>
          <a:ln/>
        </p:spPr>
        <p:txBody>
          <a:bodyPr wrap="square" lIns="0" tIns="0" rIns="0" bIns="0" rtlCol="0" anchor="ctr"/>
          <a:lstStyle/>
          <a:p>
            <a:pPr indent="0" marL="0">
              <a:buNone/>
            </a:pPr>
            <a:r>
              <a:rPr lang="en-US" sz="1300" dirty="0">
                <a:solidFill>
                  <a:srgbClr val="5B6670"/>
                </a:solidFill>
                <a:latin typeface="Calibri" pitchFamily="34" charset="0"/>
                <a:ea typeface="Calibri" pitchFamily="34" charset="-122"/>
                <a:cs typeface="Calibri" pitchFamily="34" charset="-120"/>
              </a:rPr>
              <a:t>Here is the first step to validate demand. Post this simple carousel (black background, white text) to validate demand before building anything.</a:t>
            </a:r>
            <a:endParaRPr lang="en-US" sz="1300" dirty="0"/>
          </a:p>
        </p:txBody>
      </p:sp>
      <p:sp>
        <p:nvSpPr>
          <p:cNvPr id="5" name="Text 3"/>
          <p:cNvSpPr txBox="1"/>
          <p:nvPr/>
        </p:nvSpPr>
        <p:spPr>
          <a:xfrm>
            <a:off x="685800" y="2103120"/>
            <a:ext cx="3291840" cy="274320"/>
          </a:xfrm>
          <a:prstGeom prst="rect">
            <a:avLst/>
          </a:prstGeom>
          <a:noFill/>
          <a:ln/>
        </p:spPr>
        <p:txBody>
          <a:bodyPr wrap="square" lIns="0" tIns="0" rIns="0" bIns="0" rtlCol="0" anchor="ctr"/>
          <a:lstStyle/>
          <a:p>
            <a:pPr indent="0" marL="0">
              <a:buNone/>
            </a:pPr>
            <a:r>
              <a:rPr lang="en-US" sz="1100" b="1" spc="200" kern="0" dirty="0">
                <a:solidFill>
                  <a:srgbClr val="1E8077"/>
                </a:solidFill>
                <a:latin typeface="Calibri" pitchFamily="34" charset="0"/>
                <a:ea typeface="Calibri" pitchFamily="34" charset="-122"/>
                <a:cs typeface="Calibri" pitchFamily="34" charset="-120"/>
              </a:rPr>
              <a:t>SLIDE 1   </a:t>
            </a:r>
            <a:pPr indent="0" marL="0">
              <a:buNone/>
            </a:pPr>
            <a:r>
              <a:rPr lang="en-US" sz="1100" dirty="0">
                <a:solidFill>
                  <a:srgbClr val="5B6670"/>
                </a:solidFill>
                <a:latin typeface="Calibri" pitchFamily="34" charset="0"/>
                <a:ea typeface="Calibri" pitchFamily="34" charset="-122"/>
                <a:cs typeface="Calibri" pitchFamily="34" charset="-120"/>
              </a:rPr>
              <a:t>The Hook</a:t>
            </a:r>
            <a:endParaRPr lang="en-US" sz="1100" dirty="0"/>
          </a:p>
        </p:txBody>
      </p:sp>
      <p:sp>
        <p:nvSpPr>
          <p:cNvPr id="6" name="Shape 4"/>
          <p:cNvSpPr/>
          <p:nvPr/>
        </p:nvSpPr>
        <p:spPr>
          <a:xfrm>
            <a:off x="685800" y="2514600"/>
            <a:ext cx="3291840" cy="3291840"/>
          </a:xfrm>
          <a:prstGeom prst="rect">
            <a:avLst/>
          </a:prstGeom>
          <a:solidFill>
            <a:srgbClr val="000000"/>
          </a:solidFill>
          <a:ln w="6350">
            <a:solidFill>
              <a:srgbClr val="000000"/>
            </a:solidFill>
            <a:prstDash val="solid"/>
          </a:ln>
          <a:effectLst>
            <a:outerShdw sx="100000" sy="100000" kx="0" ky="0" algn="bl" rotWithShape="0" blurRad="152400" dist="25400" dir="5400000">
              <a:srgbClr val="000000">
                <a:alpha val="8000"/>
              </a:srgbClr>
            </a:outerShdw>
          </a:effectLst>
        </p:spPr>
      </p:sp>
      <p:sp>
        <p:nvSpPr>
          <p:cNvPr id="7" name="Text 5"/>
          <p:cNvSpPr txBox="1"/>
          <p:nvPr/>
        </p:nvSpPr>
        <p:spPr>
          <a:xfrm>
            <a:off x="1051560" y="2880360"/>
            <a:ext cx="2560320" cy="2560320"/>
          </a:xfrm>
          <a:prstGeom prst="rect">
            <a:avLst/>
          </a:prstGeom>
          <a:noFill/>
          <a:ln/>
        </p:spPr>
        <p:txBody>
          <a:bodyPr wrap="square" lIns="0" tIns="0" rIns="0" bIns="0" rtlCol="0" anchor="ctr"/>
          <a:lstStyle/>
          <a:p>
            <a:pPr algn="ctr" indent="0" marL="0">
              <a:lnSpc>
                <a:spcPct val="115000"/>
              </a:lnSpc>
              <a:buNone/>
            </a:pPr>
            <a:r>
              <a:rPr lang="en-US" sz="2000" b="1" dirty="0">
                <a:solidFill>
                  <a:srgbClr val="FFFFFF"/>
                </a:solidFill>
                <a:latin typeface="Arial" pitchFamily="34" charset="0"/>
                <a:ea typeface="Arial" pitchFamily="34" charset="-122"/>
                <a:cs typeface="Arial" pitchFamily="34" charset="-120"/>
              </a:rPr>
              <a:t>You stretch every single day. And your hips are just as tight as they were six months ago.</a:t>
            </a:r>
            <a:endParaRPr lang="en-US" sz="2000" dirty="0"/>
          </a:p>
        </p:txBody>
      </p:sp>
      <p:sp>
        <p:nvSpPr>
          <p:cNvPr id="8" name="Text 6"/>
          <p:cNvSpPr txBox="1"/>
          <p:nvPr/>
        </p:nvSpPr>
        <p:spPr>
          <a:xfrm>
            <a:off x="3337560" y="5422392"/>
            <a:ext cx="457200" cy="228600"/>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1/3</a:t>
            </a:r>
            <a:endParaRPr lang="en-US" sz="900" dirty="0"/>
          </a:p>
        </p:txBody>
      </p:sp>
      <p:sp>
        <p:nvSpPr>
          <p:cNvPr id="9" name="Text 7"/>
          <p:cNvSpPr txBox="1"/>
          <p:nvPr/>
        </p:nvSpPr>
        <p:spPr>
          <a:xfrm>
            <a:off x="4449928" y="2103120"/>
            <a:ext cx="3291840" cy="274320"/>
          </a:xfrm>
          <a:prstGeom prst="rect">
            <a:avLst/>
          </a:prstGeom>
          <a:noFill/>
          <a:ln/>
        </p:spPr>
        <p:txBody>
          <a:bodyPr wrap="square" lIns="0" tIns="0" rIns="0" bIns="0" rtlCol="0" anchor="ctr"/>
          <a:lstStyle/>
          <a:p>
            <a:pPr indent="0" marL="0">
              <a:buNone/>
            </a:pPr>
            <a:r>
              <a:rPr lang="en-US" sz="1100" b="1" spc="200" kern="0" dirty="0">
                <a:solidFill>
                  <a:srgbClr val="1E8077"/>
                </a:solidFill>
                <a:latin typeface="Calibri" pitchFamily="34" charset="0"/>
                <a:ea typeface="Calibri" pitchFamily="34" charset="-122"/>
                <a:cs typeface="Calibri" pitchFamily="34" charset="-120"/>
              </a:rPr>
              <a:t>SLIDE 2   </a:t>
            </a:r>
            <a:pPr indent="0" marL="0">
              <a:buNone/>
            </a:pPr>
            <a:r>
              <a:rPr lang="en-US" sz="1100" dirty="0">
                <a:solidFill>
                  <a:srgbClr val="5B6670"/>
                </a:solidFill>
                <a:latin typeface="Calibri" pitchFamily="34" charset="0"/>
                <a:ea typeface="Calibri" pitchFamily="34" charset="-122"/>
                <a:cs typeface="Calibri" pitchFamily="34" charset="-120"/>
              </a:rPr>
              <a:t>The Agitation</a:t>
            </a:r>
            <a:endParaRPr lang="en-US" sz="1100" dirty="0"/>
          </a:p>
        </p:txBody>
      </p:sp>
      <p:sp>
        <p:nvSpPr>
          <p:cNvPr id="10" name="Shape 8"/>
          <p:cNvSpPr/>
          <p:nvPr/>
        </p:nvSpPr>
        <p:spPr>
          <a:xfrm>
            <a:off x="4449928" y="2514600"/>
            <a:ext cx="3291840" cy="3291840"/>
          </a:xfrm>
          <a:prstGeom prst="rect">
            <a:avLst/>
          </a:prstGeom>
          <a:solidFill>
            <a:srgbClr val="000000"/>
          </a:solidFill>
          <a:ln w="6350">
            <a:solidFill>
              <a:srgbClr val="000000"/>
            </a:solidFill>
            <a:prstDash val="solid"/>
          </a:ln>
          <a:effectLst>
            <a:outerShdw sx="100000" sy="100000" kx="0" ky="0" algn="bl" rotWithShape="0" blurRad="152400" dist="25400" dir="5400000">
              <a:srgbClr val="000000">
                <a:alpha val="8000"/>
              </a:srgbClr>
            </a:outerShdw>
          </a:effectLst>
        </p:spPr>
      </p:sp>
      <p:sp>
        <p:nvSpPr>
          <p:cNvPr id="11" name="Text 9"/>
          <p:cNvSpPr txBox="1"/>
          <p:nvPr/>
        </p:nvSpPr>
        <p:spPr>
          <a:xfrm>
            <a:off x="4815688" y="2880360"/>
            <a:ext cx="2560320" cy="2560320"/>
          </a:xfrm>
          <a:prstGeom prst="rect">
            <a:avLst/>
          </a:prstGeom>
          <a:noFill/>
          <a:ln/>
        </p:spPr>
        <p:txBody>
          <a:bodyPr wrap="square" lIns="0" tIns="0" rIns="0" bIns="0" rtlCol="0" anchor="ctr"/>
          <a:lstStyle/>
          <a:p>
            <a:pPr algn="ctr" indent="0" marL="0">
              <a:lnSpc>
                <a:spcPct val="115000"/>
              </a:lnSpc>
              <a:buNone/>
            </a:pPr>
            <a:r>
              <a:rPr lang="en-US" sz="1450" b="1" dirty="0">
                <a:solidFill>
                  <a:srgbClr val="FFFFFF"/>
                </a:solidFill>
                <a:latin typeface="Arial" pitchFamily="34" charset="0"/>
                <a:ea typeface="Arial" pitchFamily="34" charset="-122"/>
                <a:cs typeface="Arial" pitchFamily="34" charset="-120"/>
              </a:rPr>
              <a:t>It is not your muscles refusing to open. It is your nervous system slamming on the brakes because it feels zero control in those end ranges. Pushing harder only makes your body fight you back.</a:t>
            </a:r>
            <a:endParaRPr lang="en-US" sz="1450" dirty="0"/>
          </a:p>
        </p:txBody>
      </p:sp>
      <p:sp>
        <p:nvSpPr>
          <p:cNvPr id="12" name="Text 10"/>
          <p:cNvSpPr txBox="1"/>
          <p:nvPr/>
        </p:nvSpPr>
        <p:spPr>
          <a:xfrm>
            <a:off x="7101688" y="5422392"/>
            <a:ext cx="457200" cy="228600"/>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2/3</a:t>
            </a:r>
            <a:endParaRPr lang="en-US" sz="900" dirty="0"/>
          </a:p>
        </p:txBody>
      </p:sp>
      <p:sp>
        <p:nvSpPr>
          <p:cNvPr id="13" name="Text 11"/>
          <p:cNvSpPr txBox="1"/>
          <p:nvPr/>
        </p:nvSpPr>
        <p:spPr>
          <a:xfrm>
            <a:off x="8214055" y="2103120"/>
            <a:ext cx="3291840" cy="274320"/>
          </a:xfrm>
          <a:prstGeom prst="rect">
            <a:avLst/>
          </a:prstGeom>
          <a:noFill/>
          <a:ln/>
        </p:spPr>
        <p:txBody>
          <a:bodyPr wrap="square" lIns="0" tIns="0" rIns="0" bIns="0" rtlCol="0" anchor="ctr"/>
          <a:lstStyle/>
          <a:p>
            <a:pPr indent="0" marL="0">
              <a:buNone/>
            </a:pPr>
            <a:r>
              <a:rPr lang="en-US" sz="1100" b="1" spc="200" kern="0" dirty="0">
                <a:solidFill>
                  <a:srgbClr val="1E8077"/>
                </a:solidFill>
                <a:latin typeface="Calibri" pitchFamily="34" charset="0"/>
                <a:ea typeface="Calibri" pitchFamily="34" charset="-122"/>
                <a:cs typeface="Calibri" pitchFamily="34" charset="-120"/>
              </a:rPr>
              <a:t>SLIDE 3   </a:t>
            </a:r>
            <a:pPr indent="0" marL="0">
              <a:buNone/>
            </a:pPr>
            <a:r>
              <a:rPr lang="en-US" sz="1100" dirty="0">
                <a:solidFill>
                  <a:srgbClr val="5B6670"/>
                </a:solidFill>
                <a:latin typeface="Calibri" pitchFamily="34" charset="0"/>
                <a:ea typeface="Calibri" pitchFamily="34" charset="-122"/>
                <a:cs typeface="Calibri" pitchFamily="34" charset="-120"/>
              </a:rPr>
              <a:t>Curiosity / Call to Action</a:t>
            </a:r>
            <a:endParaRPr lang="en-US" sz="1100" dirty="0"/>
          </a:p>
        </p:txBody>
      </p:sp>
      <p:sp>
        <p:nvSpPr>
          <p:cNvPr id="14" name="Shape 12"/>
          <p:cNvSpPr/>
          <p:nvPr/>
        </p:nvSpPr>
        <p:spPr>
          <a:xfrm>
            <a:off x="8214055" y="2514600"/>
            <a:ext cx="3291840" cy="3291840"/>
          </a:xfrm>
          <a:prstGeom prst="rect">
            <a:avLst/>
          </a:prstGeom>
          <a:solidFill>
            <a:srgbClr val="000000"/>
          </a:solidFill>
          <a:ln w="6350">
            <a:solidFill>
              <a:srgbClr val="000000"/>
            </a:solidFill>
            <a:prstDash val="solid"/>
          </a:ln>
          <a:effectLst>
            <a:outerShdw sx="100000" sy="100000" kx="0" ky="0" algn="bl" rotWithShape="0" blurRad="152400" dist="25400" dir="5400000">
              <a:srgbClr val="000000">
                <a:alpha val="8000"/>
              </a:srgbClr>
            </a:outerShdw>
          </a:effectLst>
        </p:spPr>
      </p:sp>
      <p:sp>
        <p:nvSpPr>
          <p:cNvPr id="15" name="Text 13"/>
          <p:cNvSpPr txBox="1"/>
          <p:nvPr/>
        </p:nvSpPr>
        <p:spPr>
          <a:xfrm>
            <a:off x="8579815" y="2880360"/>
            <a:ext cx="2560320" cy="2560320"/>
          </a:xfrm>
          <a:prstGeom prst="rect">
            <a:avLst/>
          </a:prstGeom>
          <a:noFill/>
          <a:ln/>
        </p:spPr>
        <p:txBody>
          <a:bodyPr wrap="square" lIns="0" tIns="0" rIns="0" bIns="0" rtlCol="0" anchor="ctr"/>
          <a:lstStyle/>
          <a:p>
            <a:pPr algn="ctr" indent="0" marL="0">
              <a:lnSpc>
                <a:spcPct val="115000"/>
              </a:lnSpc>
              <a:buNone/>
            </a:pPr>
            <a:r>
              <a:rPr lang="en-US" sz="1600" b="1" dirty="0">
                <a:solidFill>
                  <a:srgbClr val="FFFFFF"/>
                </a:solidFill>
                <a:latin typeface="Arial" pitchFamily="34" charset="0"/>
                <a:ea typeface="Arial" pitchFamily="34" charset="-122"/>
                <a:cs typeface="Arial" pitchFamily="34" charset="-120"/>
              </a:rPr>
              <a:t>What if you stopped forcing stretches and started retraining how your brain perceives end-range stability?</a:t>
            </a:r>
            <a:endParaRPr lang="en-US" sz="1600" dirty="0"/>
          </a:p>
          <a:p>
            <a:pPr algn="ctr" indent="0" marL="0">
              <a:lnSpc>
                <a:spcPct val="115000"/>
              </a:lnSpc>
              <a:buNone/>
            </a:pPr>
            <a:endParaRPr lang="en-US" sz="1600" dirty="0"/>
          </a:p>
          <a:p>
            <a:pPr algn="ctr" indent="0" marL="0">
              <a:lnSpc>
                <a:spcPct val="115000"/>
              </a:lnSpc>
              <a:buNone/>
            </a:pPr>
            <a:r>
              <a:rPr lang="en-US" sz="1600" b="1" dirty="0">
                <a:solidFill>
                  <a:srgbClr val="FFFFFF"/>
                </a:solidFill>
                <a:latin typeface="Arial" pitchFamily="34" charset="0"/>
                <a:ea typeface="Arial" pitchFamily="34" charset="-122"/>
                <a:cs typeface="Arial" pitchFamily="34" charset="-120"/>
              </a:rPr>
              <a:t>Reply 'I WANT' if this resonates with you.</a:t>
            </a:r>
            <a:endParaRPr lang="en-US" sz="1600" dirty="0"/>
          </a:p>
        </p:txBody>
      </p:sp>
      <p:sp>
        <p:nvSpPr>
          <p:cNvPr id="16" name="Text 14"/>
          <p:cNvSpPr txBox="1"/>
          <p:nvPr/>
        </p:nvSpPr>
        <p:spPr>
          <a:xfrm>
            <a:off x="10865815" y="5422392"/>
            <a:ext cx="457200" cy="228600"/>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3/3</a:t>
            </a:r>
            <a:endParaRPr lang="en-US" sz="900" dirty="0"/>
          </a:p>
        </p:txBody>
      </p:sp>
      <p:sp>
        <p:nvSpPr>
          <p:cNvPr id="17" name="Text 15"/>
          <p:cNvSpPr txBox="1"/>
          <p:nvPr/>
        </p:nvSpPr>
        <p:spPr>
          <a:xfrm>
            <a:off x="685800" y="6355080"/>
            <a:ext cx="5486400" cy="228600"/>
          </a:xfrm>
          <a:prstGeom prst="rect">
            <a:avLst/>
          </a:prstGeom>
          <a:noFill/>
          <a:ln/>
        </p:spPr>
        <p:txBody>
          <a:bodyPr wrap="square" lIns="0" tIns="0" rIns="0" bIns="0" rtlCol="0" anchor="ctr"/>
          <a:lstStyle/>
          <a:p>
            <a:pPr indent="0" marL="0">
              <a:buNone/>
            </a:pPr>
            <a:r>
              <a:rPr lang="en-US" sz="1000" dirty="0">
                <a:solidFill>
                  <a:srgbClr val="5B6670"/>
                </a:solidFill>
                <a:latin typeface="Calibri" pitchFamily="34" charset="0"/>
                <a:ea typeface="Calibri" pitchFamily="34" charset="-122"/>
                <a:cs typeface="Calibri" pitchFamily="34" charset="-120"/>
              </a:rPr>
              <a:t>Prepared by Sean</a:t>
            </a:r>
            <a:endParaRPr lang="en-US" sz="1000" dirty="0"/>
          </a:p>
        </p:txBody>
      </p:sp>
      <p:sp>
        <p:nvSpPr>
          <p:cNvPr id="18" name="Text 16"/>
          <p:cNvSpPr txBox="1"/>
          <p:nvPr/>
        </p:nvSpPr>
        <p:spPr>
          <a:xfrm>
            <a:off x="10591495" y="6355080"/>
            <a:ext cx="914400" cy="228600"/>
          </a:xfrm>
          <a:prstGeom prst="rect">
            <a:avLst/>
          </a:prstGeom>
          <a:noFill/>
          <a:ln/>
        </p:spPr>
        <p:txBody>
          <a:bodyPr wrap="square" lIns="0" tIns="0" rIns="0" bIns="0" rtlCol="0" anchor="ctr"/>
          <a:lstStyle/>
          <a:p>
            <a:pPr algn="r" indent="0" marL="0">
              <a:buNone/>
            </a:pPr>
            <a:r>
              <a:rPr lang="en-US" sz="1000" dirty="0">
                <a:solidFill>
                  <a:srgbClr val="5B6670"/>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Monetisation Audit</dc:title>
  <dc:subject>PptxGenJS Presentation</dc:subject>
  <dc:creator>Sean</dc:creator>
  <cp:lastModifiedBy>Sean</cp:lastModifiedBy>
  <cp:revision>1</cp:revision>
  <dcterms:created xsi:type="dcterms:W3CDTF">2026-10-06T17:06:55Z</dcterms:created>
  <dcterms:modified xsi:type="dcterms:W3CDTF">2026-10-06T17:06:55Z</dcterms:modified>
</cp:coreProperties>
</file>