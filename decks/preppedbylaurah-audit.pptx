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554480"/>
            <a:ext cx="5852160" cy="5852160"/>
          </a:xfrm>
          <a:prstGeom prst="ellipse">
            <a:avLst/>
          </a:prstGeom>
          <a:solidFill>
            <a:srgbClr val="C8652A">
              <a:alpha val="14000"/>
            </a:srgbClr>
          </a:solidFill>
          <a:ln w="6350">
            <a:solidFill>
              <a:srgbClr val="C8652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383280"/>
            <a:ext cx="3108960" cy="3108960"/>
          </a:xfrm>
          <a:prstGeom prst="ellipse">
            <a:avLst/>
          </a:prstGeom>
          <a:solidFill>
            <a:srgbClr val="C8652A">
              <a:alpha val="8000"/>
            </a:srgbClr>
          </a:solidFill>
          <a:ln w="6350">
            <a:solidFill>
              <a:srgbClr val="1C26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AUDIT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Preppedbylaurah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@preppedbylaurah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Chef &amp; High-Performance Meal Prep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Sean   · 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CREATOR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you are, and what you really sell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4206240" cy="3749040"/>
          </a:xfrm>
          <a:prstGeom prst="roundRect">
            <a:avLst>
              <a:gd name="adj" fmla="val 2195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NICHE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9260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Chef &amp; High-Performance Meal Prep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212080" y="2057400"/>
            <a:ext cx="6293815" cy="3749040"/>
          </a:xfrm>
          <a:prstGeom prst="roundRect">
            <a:avLst>
              <a:gd name="adj" fmla="val 2195"/>
            </a:avLst>
          </a:prstGeom>
          <a:solidFill>
            <a:srgbClr val="1C2620"/>
          </a:solidFill>
          <a:ln w="6350">
            <a:solidFill>
              <a:srgbClr val="1C262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669280" y="2514600"/>
            <a:ext cx="5379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TRANSFORMATION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926080"/>
            <a:ext cx="5379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busy, health-conscious people from 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AEB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 daily cooks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home chefs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who prep vibrant, athlete-grade meals in under two hours a week.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 ·  @preppedbylaurah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THE OPPORTUNITY  ·  DEMAND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analyzed your content and provided data. Here is what the numbers say: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23818" cy="4343400"/>
          </a:xfrm>
          <a:prstGeom prst="roundRect">
            <a:avLst>
              <a:gd name="adj" fmla="val 2404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94560"/>
            <a:ext cx="2783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50592"/>
            <a:ext cx="27837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Pro-Athlete Client Prep Showcases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6324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18.3M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593592"/>
            <a:ext cx="2783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across two reels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3931920"/>
            <a:ext cx="2783738" cy="0"/>
          </a:xfrm>
          <a:prstGeom prst="line">
            <a:avLst/>
          </a:prstGeom>
          <a:noFill/>
          <a:ln w="9525">
            <a:solidFill>
              <a:srgbClr val="5F665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050792"/>
            <a:ext cx="27837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Engagement: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10,581,736 views and 679,316 likes on your full client prep reel, plus 7,674,885 views and 556,054 likes on your athlete prep breakdown.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audience is captivated by how private chefs organize, flavor, and pack elite food for top performers.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833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POTENTIAL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06040" y="582472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5824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3938" y="1920240"/>
            <a:ext cx="3423818" cy="4343400"/>
          </a:xfrm>
          <a:prstGeom prst="roundRect">
            <a:avLst>
              <a:gd name="adj" fmla="val 2404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03978" y="2194560"/>
            <a:ext cx="2783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03978" y="2450592"/>
            <a:ext cx="27837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Technique &amp; Execution Tutorials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03978" y="306324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4.4M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703978" y="3593592"/>
            <a:ext cx="2783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on one masterclass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3978" y="3931920"/>
            <a:ext cx="2783738" cy="0"/>
          </a:xfrm>
          <a:prstGeom prst="line">
            <a:avLst/>
          </a:prstGeom>
          <a:noFill/>
          <a:ln w="9525">
            <a:solidFill>
              <a:srgbClr val="5F665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3978" y="4050792"/>
            <a:ext cx="27837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Engagement: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4,431,481 views, 223,302 likes, and 2,066 comments on your cast-iron steak masterclass.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audience does not just want recipe ideas. They want your exact method to stop ruining expensive proteins and achieve restaurant crust at home.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03978" y="5833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POTENTIAL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4178" y="582472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4178" y="5824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82077" y="1920240"/>
            <a:ext cx="3423818" cy="4343400"/>
          </a:xfrm>
          <a:prstGeom prst="roundRect">
            <a:avLst>
              <a:gd name="adj" fmla="val 2404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02117" y="2194560"/>
            <a:ext cx="2783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2450592"/>
            <a:ext cx="27837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High-Protein Snacks &amp; Grab-and-Go Fuel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02117" y="306324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4.9M+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8402117" y="3593592"/>
            <a:ext cx="2783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combined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02117" y="3931920"/>
            <a:ext cx="2783738" cy="0"/>
          </a:xfrm>
          <a:prstGeom prst="line">
            <a:avLst/>
          </a:prstGeom>
          <a:noFill/>
          <a:ln w="9525">
            <a:solidFill>
              <a:srgbClr val="5F665F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02117" y="4050792"/>
            <a:ext cx="27837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Engagement: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4.9M views and 317,000+ likes combined across your snack and breakfast prep reels (protein muffins, granola clusters, overnight oats).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engagement for quick-fuel staples that remove weekday friction.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402117" y="5833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POTENTIAL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002317" y="58247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3E3D6"/>
          </a:solidFill>
          <a:ln w="6350">
            <a:solidFill>
              <a:srgbClr val="F3E3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02317" y="58247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 ·  @preppedbylaurah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4206240"/>
            <a:ext cx="5486400" cy="5486400"/>
          </a:xfrm>
          <a:prstGeom prst="ellipse">
            <a:avLst/>
          </a:prstGeom>
          <a:solidFill>
            <a:srgbClr val="C8652A">
              <a:alpha val="10000"/>
            </a:srgbClr>
          </a:solidFill>
          <a:ln w="6350">
            <a:solidFill>
              <a:srgbClr val="C8652A">
                <a:alpha val="2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engagement on your pro-athlete meal prep proves there is massive pent-up demand.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followers do not just want casual Substack recipes. They want the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private chef system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cook high-flavor, nutritious food without spending all week in the kitchen.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 ·  @preppedbylaurah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THE NUMBERS  ·  YOUR AUDIENCE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how much your audience is potentially worth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Potential, based on conservative market metrics.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2416988" cy="1600200"/>
          </a:xfrm>
          <a:prstGeom prst="roundRect">
            <a:avLst>
              <a:gd name="adj" fmla="val 5143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331720"/>
            <a:ext cx="186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1,157,972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53512"/>
            <a:ext cx="1868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Base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102788" y="26289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86836" y="2057400"/>
            <a:ext cx="2416988" cy="1600200"/>
          </a:xfrm>
          <a:prstGeom prst="roundRect">
            <a:avLst>
              <a:gd name="adj" fmla="val 5143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61156" y="2331720"/>
            <a:ext cx="186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57,899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761156" y="2953512"/>
            <a:ext cx="1868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Audience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61156" y="3227832"/>
            <a:ext cx="1868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market premise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6289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87872" y="2057400"/>
            <a:ext cx="2416988" cy="1600200"/>
          </a:xfrm>
          <a:prstGeom prst="roundRect">
            <a:avLst>
              <a:gd name="adj" fmla="val 5143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62192" y="2331720"/>
            <a:ext cx="186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5,790 – 8,685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562192" y="2953512"/>
            <a:ext cx="1868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Buyers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62192" y="3227832"/>
            <a:ext cx="1868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10%–15% conversion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04859" y="26289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88907" y="2057400"/>
            <a:ext cx="2416988" cy="1600200"/>
          </a:xfrm>
          <a:prstGeom prst="roundRect">
            <a:avLst>
              <a:gd name="adj" fmla="val 5143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363227" y="2331720"/>
            <a:ext cx="1868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363227" y="2953512"/>
            <a:ext cx="1868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343400"/>
            <a:ext cx="10820095" cy="640080"/>
          </a:xfrm>
          <a:prstGeom prst="roundRect">
            <a:avLst>
              <a:gd name="adj" fmla="val 12857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5156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(10%)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88620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57,899 engaged fans  ×  10%  ×  $200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96935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$1,157,980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85800" y="5120640"/>
            <a:ext cx="10820095" cy="640080"/>
          </a:xfrm>
          <a:prstGeom prst="roundRect">
            <a:avLst>
              <a:gd name="adj" fmla="val 12857"/>
            </a:avLst>
          </a:prstGeom>
          <a:solidFill>
            <a:srgbClr val="F3E3D6"/>
          </a:solidFill>
          <a:ln w="6350">
            <a:solidFill>
              <a:srgbClr val="F3E3D6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51560" y="5120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(15%)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5120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57,899 engaged fans  ×  15%  ×  $200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396935" y="5120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6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$1,736,970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 ·  @preppedbylaurah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828800"/>
            <a:ext cx="6035040" cy="6035040"/>
          </a:xfrm>
          <a:prstGeom prst="ellipse">
            <a:avLst/>
          </a:prstGeom>
          <a:solidFill>
            <a:srgbClr val="C8652A">
              <a:alpha val="12000"/>
            </a:srgbClr>
          </a:solidFill>
          <a:ln w="6350">
            <a:solidFill>
              <a:srgbClr val="C8652A">
                <a:alpha val="3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4173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~$1,157,980 – $1,736,970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685800" y="3291840"/>
            <a:ext cx="1005840" cy="54864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61188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these numbers, your content has a Revenue Potential of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$1.15M – $1.73M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waiting to be unlocked with a single dedicated product.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 ·  @preppedbylaurah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PRODUCT SUGGESTIONS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1: The Private Chef Prep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what your content demonstrates with what your audience shows it wants, here are 3 profitable paths.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05695" y="8686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05695" y="868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BET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23818" cy="4069080"/>
          </a:xfrm>
          <a:prstGeom prst="roundRect">
            <a:avLst>
              <a:gd name="adj" fmla="val 2404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350008"/>
            <a:ext cx="420624" cy="420624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990088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429000"/>
            <a:ext cx="269229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video course and operational blueprint teaching home cooks how to batch-prep 15+ athlete-level meals in one two-hour kitchen block, using professional kitchen workflows, marinades, and storage secrets.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3938" y="1965960"/>
            <a:ext cx="3423818" cy="4069080"/>
          </a:xfrm>
          <a:prstGeom prst="roundRect">
            <a:avLst>
              <a:gd name="adj" fmla="val 2404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9698" y="2350008"/>
            <a:ext cx="420624" cy="420624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49698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49698" y="2990088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Whom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49698" y="3429000"/>
            <a:ext cx="269229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professionals, fitness enthusiasts, and parents who love great food but spend hours cooking every night or settle for dry, boring meal prep.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82077" y="1965960"/>
            <a:ext cx="3423818" cy="4069080"/>
          </a:xfrm>
          <a:prstGeom prst="roundRect">
            <a:avLst>
              <a:gd name="adj" fmla="val 2404"/>
            </a:avLst>
          </a:prstGeom>
          <a:solidFill>
            <a:srgbClr val="1C2620"/>
          </a:solidFill>
          <a:ln w="6350">
            <a:solidFill>
              <a:srgbClr val="1C262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47837" y="2350008"/>
            <a:ext cx="420624" cy="420624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47837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47837" y="2990088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Will Sell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447837" y="3429000"/>
            <a:ext cx="269229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core frustration visible across your highest-performing reels: people want to eat like your private clients, but lack the system to organize prep day efficiently.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 ·  @preppedbylaurah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PRODUCT SUGGESTIONS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more profitable paths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27168" cy="4114800"/>
          </a:xfrm>
          <a:prstGeom prst="roundRect">
            <a:avLst>
              <a:gd name="adj" fmla="val 2000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43000" y="2194560"/>
            <a:ext cx="431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487168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Athlete Macro Blueprint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15468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456432"/>
            <a:ext cx="431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specialized culinary guide focusing entirely on high-protein, clean-fuel cooking with calculated macro profiles, high-calorie athletic portions, and clean sweet treats.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4590288"/>
            <a:ext cx="4312768" cy="0"/>
          </a:xfrm>
          <a:prstGeom prst="line">
            <a:avLst/>
          </a:prstGeom>
          <a:noFill/>
          <a:ln w="9525">
            <a:solidFill>
              <a:srgbClr val="5F665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47091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5010912"/>
            <a:ext cx="431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specifically on performance nutrition and fitness goals rather than general household meal planning.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1828800"/>
            <a:ext cx="5227168" cy="4114800"/>
          </a:xfrm>
          <a:prstGeom prst="roundRect">
            <a:avLst>
              <a:gd name="adj" fmla="val 2000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35928" y="2194560"/>
            <a:ext cx="431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5928" y="2487168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Flavor &amp; Technique Masterclass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735928" y="315468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35928" y="3456432"/>
            <a:ext cx="431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foundational culinary video library teaching professional restaurant skills at home: pan sauces, proper protein searing, balanced vinaigrettes, and ingredient pairing.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35928" y="4590288"/>
            <a:ext cx="4312768" cy="0"/>
          </a:xfrm>
          <a:prstGeom prst="line">
            <a:avLst/>
          </a:prstGeom>
          <a:noFill/>
          <a:ln w="9525">
            <a:solidFill>
              <a:srgbClr val="5F665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35928" y="47091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35928" y="5010912"/>
            <a:ext cx="431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culinary skills program for people who already have recipes but lack the cooking technique to make food taste like a private chef made it.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 ·  @preppedbylaurah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IMPLEMENTATION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68096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decide to move forward, this is the launch structure we will use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96112" y="2194560"/>
            <a:ext cx="0" cy="3291840"/>
          </a:xfrm>
          <a:prstGeom prst="line">
            <a:avLst/>
          </a:prstGeom>
          <a:noFill/>
          <a:ln w="19050">
            <a:solidFill>
              <a:srgbClr val="C8652A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84248"/>
            <a:ext cx="420624" cy="420624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847088"/>
            <a:ext cx="10180015" cy="731520"/>
          </a:xfrm>
          <a:prstGeom prst="roundRect">
            <a:avLst>
              <a:gd name="adj" fmla="val 11250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600200" y="1847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Up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847088"/>
            <a:ext cx="7711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your community and tease that something big is coming. Interactive stories (polls, Q&amp;A boxes, DMs) touching on their pain points and showing your results. High interaction is the goal.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807208"/>
            <a:ext cx="420624" cy="420624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25880" y="2670048"/>
            <a:ext cx="10180015" cy="731520"/>
          </a:xfrm>
          <a:prstGeom prst="roundRect">
            <a:avLst>
              <a:gd name="adj" fmla="val 11250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600200" y="26700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670048"/>
            <a:ext cx="7711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it's on the way and invite your audience into a private group (WhatsApp or Telegram) where all details will be revealed. Tease the time-limited exclusive bonus.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630168"/>
            <a:ext cx="420624" cy="420624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25880" y="3493008"/>
            <a:ext cx="10180015" cy="731520"/>
          </a:xfrm>
          <a:prstGeom prst="roundRect">
            <a:avLst>
              <a:gd name="adj" fmla="val 11250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600200" y="34930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Anticipation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493008"/>
            <a:ext cx="7711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curiosity inside the group. Tease what's coming, share the results people can achieve, and make the timeline crystal clear, so everyone is ready to act the moment doors open.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453128"/>
            <a:ext cx="420624" cy="420624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25880" y="4315968"/>
            <a:ext cx="10180015" cy="731520"/>
          </a:xfrm>
          <a:prstGeom prst="roundRect">
            <a:avLst>
              <a:gd name="adj" fmla="val 11250"/>
            </a:avLst>
          </a:prstGeom>
          <a:solidFill>
            <a:srgbClr val="F6F2EC"/>
          </a:solidFill>
          <a:ln w="6350">
            <a:solidFill>
              <a:srgbClr val="F6F2EC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600200" y="43159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4315968"/>
            <a:ext cx="7711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full breakdown: what's included, the exclusive bonus, the price, and the open/close dates. Leave no doubt about what's on offer.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276088"/>
            <a:ext cx="420624" cy="420624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25880" y="5138928"/>
            <a:ext cx="10180015" cy="731520"/>
          </a:xfrm>
          <a:prstGeom prst="roundRect">
            <a:avLst>
              <a:gd name="adj" fmla="val 11250"/>
            </a:avLst>
          </a:prstGeom>
          <a:solidFill>
            <a:srgbClr val="F3E3D6"/>
          </a:solidFill>
          <a:ln w="6350">
            <a:solidFill>
              <a:srgbClr val="F3E3D6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600200" y="513892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  <a:p>
            <a:pPr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5138928"/>
            <a:ext cx="7711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enrollment link, run a poll to see who's in or has questions, and follow up 1-on-1 in the DMs with everyone who raises a hand. That's where most conversions happen.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 ·  @preppedbylaurah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Monetisation Audit: Preppedbylaurah</dc:title>
  <dc:subject>PptxGenJS Presentation</dc:subject>
  <dc:creator>Sean</dc:creator>
  <cp:lastModifiedBy>Sean</cp:lastModifiedBy>
  <cp:revision>1</cp:revision>
  <dcterms:created xsi:type="dcterms:W3CDTF">2026-10-05T16:48:54Z</dcterms:created>
  <dcterms:modified xsi:type="dcterms:W3CDTF">2026-10-05T16:48:54Z</dcterms:modified>
</cp:coreProperties>
</file>